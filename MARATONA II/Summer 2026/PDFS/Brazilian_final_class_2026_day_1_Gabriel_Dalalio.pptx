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6858000" cx="9144000"/>
  <p:notesSz cx="6858000" cy="9144000"/>
  <p:embeddedFontLst>
    <p:embeddedFont>
      <p:font typeface="Corbel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9" roundtripDataSignature="AMtx7mjqmGESc0fwwtNfvFqW8PCnn95h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Corbel-bold.fntdata"/><Relationship Id="rId45" Type="http://schemas.openxmlformats.org/officeDocument/2006/relationships/font" Target="fonts/Corbel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Corbel-boldItalic.fntdata"/><Relationship Id="rId47" Type="http://schemas.openxmlformats.org/officeDocument/2006/relationships/font" Target="fonts/Corbel-italic.fntdata"/><Relationship Id="rId49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2bdfc5b3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92bdfc5b33_0_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2bdfc5b33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92bdfc5b33_0_10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2bdfc5b3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92bdfc5b33_0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2bdfc5b3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92bdfc5b33_0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2bdfc5b3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92bdfc5b33_0_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2bdfc5b3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92bdfc5b33_0_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2bdfc5b3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92bdfc5b33_0_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2bdfc5b3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92bdfc5b33_0_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2bdfc5b3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92bdfc5b33_0_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2bdfc5b33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92bdfc5b33_0_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2bdfc5b33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92bdfc5b33_0_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2bdfc5b33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92bdfc5b33_0_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92bdfc5b33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92bdfc5b33_0_1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92bdfc5b33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92bdfc5b33_0_1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92bdfc5b33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92bdfc5b33_0_1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92bdfc5b33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92bdfc5b33_0_1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92bdfc5b33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92bdfc5b33_0_1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92bdfc5b33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92bdfc5b33_0_1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92bdfc5b33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92bdfc5b33_0_1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92bdfc5b33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92bdfc5b33_0_1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92bdfc5b33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92bdfc5b33_0_1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92bdfc5b33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92bdfc5b33_0_1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92bdfc5b33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92bdfc5b33_0_1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92bdfc5b33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92bdfc5b33_0_1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92bdfc5b33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92bdfc5b33_0_1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92bdfc5b33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92bdfc5b33_0_1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92bdfc5b33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92bdfc5b33_0_2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92bdfc5b33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92bdfc5b33_0_2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92bdfc5b33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92bdfc5b33_0_2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92bdfc5b33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392bdfc5b33_0_1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92bdfc5b33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92bdfc5b33_0_2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92bdfc5b33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g392bdfc5b33_0_2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92bdfc5b33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92bdfc5b33_0_2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92bdfc5b33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92bdfc5b33_0_20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bg>
      <p:bgPr>
        <a:gradFill>
          <a:gsLst>
            <a:gs pos="0">
              <a:srgbClr val="BEC4D3"/>
            </a:gs>
            <a:gs pos="12000">
              <a:srgbClr val="BEC4D3"/>
            </a:gs>
            <a:gs pos="20000">
              <a:srgbClr val="BDC3D1"/>
            </a:gs>
            <a:gs pos="100000">
              <a:srgbClr val="34394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/>
          <p:nvPr/>
        </p:nvSpPr>
        <p:spPr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" name="Google Shape;19;p22"/>
          <p:cNvSpPr txBox="1"/>
          <p:nvPr>
            <p:ph type="ctrTitle"/>
          </p:nvPr>
        </p:nvSpPr>
        <p:spPr>
          <a:xfrm>
            <a:off x="685800" y="3355848"/>
            <a:ext cx="8077200" cy="1673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4570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700"/>
              <a:buFont typeface="Corbel"/>
              <a:buNone/>
              <a:defRPr b="1" sz="4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" type="subTitle"/>
          </p:nvPr>
        </p:nvSpPr>
        <p:spPr>
          <a:xfrm>
            <a:off x="685800" y="1828800"/>
            <a:ext cx="80772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18850" spcFirstLastPara="1" rIns="4570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SzPts val="252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" name="Google Shape;21;p22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" name="Google Shape;24;p22"/>
          <p:cNvSpPr/>
          <p:nvPr/>
        </p:nvSpPr>
        <p:spPr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rotWithShape="0" algn="tl" dir="5400000" dist="1016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320040" lvl="0" marL="457200" algn="l">
              <a:spcBef>
                <a:spcPts val="0"/>
              </a:spcBef>
              <a:spcAft>
                <a:spcPts val="0"/>
              </a:spcAft>
              <a:buSzPts val="1440"/>
              <a:buChar char="◼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bg>
      <p:bgPr>
        <a:gradFill>
          <a:gsLst>
            <a:gs pos="0">
              <a:srgbClr val="BEC4D3"/>
            </a:gs>
            <a:gs pos="12000">
              <a:srgbClr val="BEC4D3"/>
            </a:gs>
            <a:gs pos="20000">
              <a:srgbClr val="BDC3D1"/>
            </a:gs>
            <a:gs pos="100000">
              <a:srgbClr val="34394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1"/>
          <p:cNvSpPr/>
          <p:nvPr/>
        </p:nvSpPr>
        <p:spPr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1" name="Google Shape;41;p21"/>
          <p:cNvSpPr txBox="1"/>
          <p:nvPr>
            <p:ph type="ctrTitle"/>
          </p:nvPr>
        </p:nvSpPr>
        <p:spPr>
          <a:xfrm>
            <a:off x="685800" y="3355848"/>
            <a:ext cx="8077200" cy="1673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4570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700"/>
              <a:buFont typeface="Corbel"/>
              <a:buNone/>
              <a:defRPr b="1" sz="4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subTitle"/>
          </p:nvPr>
        </p:nvSpPr>
        <p:spPr>
          <a:xfrm>
            <a:off x="685800" y="1828800"/>
            <a:ext cx="80772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18850" spcFirstLastPara="1" rIns="4570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SzPts val="252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21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6" name="Google Shape;46;p21"/>
          <p:cNvSpPr/>
          <p:nvPr/>
        </p:nvSpPr>
        <p:spPr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rotWithShape="0" algn="tl" dir="5400000" dist="1016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showMasterSp="0" type="secHead">
  <p:cSld name="SECTION_HEADER">
    <p:bg>
      <p:bgPr>
        <a:gradFill>
          <a:gsLst>
            <a:gs pos="0">
              <a:srgbClr val="BEC4D3"/>
            </a:gs>
            <a:gs pos="12000">
              <a:srgbClr val="BEC4D3"/>
            </a:gs>
            <a:gs pos="20000">
              <a:srgbClr val="BDC3D1"/>
            </a:gs>
            <a:gs pos="100000">
              <a:srgbClr val="343945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4"/>
          <p:cNvSpPr/>
          <p:nvPr/>
        </p:nvSpPr>
        <p:spPr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9" name="Google Shape;49;p24"/>
          <p:cNvSpPr/>
          <p:nvPr/>
        </p:nvSpPr>
        <p:spPr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rotWithShape="0" algn="tl" dir="5400000" dist="1016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0" name="Google Shape;50;p24"/>
          <p:cNvSpPr txBox="1"/>
          <p:nvPr>
            <p:ph type="title"/>
          </p:nvPr>
        </p:nvSpPr>
        <p:spPr>
          <a:xfrm>
            <a:off x="749808" y="118872"/>
            <a:ext cx="8013192" cy="163677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700"/>
              <a:buFont typeface="Corbel"/>
              <a:buNone/>
              <a:defRPr b="1" sz="47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" type="body"/>
          </p:nvPr>
        </p:nvSpPr>
        <p:spPr>
          <a:xfrm>
            <a:off x="740664" y="1828800"/>
            <a:ext cx="802233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6300" spcFirstLastPara="1" rIns="4570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FFFFFF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24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4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5"/>
          <p:cNvSpPr txBox="1"/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" type="body"/>
          </p:nvPr>
        </p:nvSpPr>
        <p:spPr>
          <a:xfrm>
            <a:off x="457200" y="1773936"/>
            <a:ext cx="4038600" cy="4623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rmAutofit/>
          </a:bodyPr>
          <a:lstStyle>
            <a:lvl1pPr indent="-370840" lvl="0" marL="457200" algn="l">
              <a:spcBef>
                <a:spcPts val="0"/>
              </a:spcBef>
              <a:spcAft>
                <a:spcPts val="0"/>
              </a:spcAft>
              <a:buSzPts val="2240"/>
              <a:buChar char="◼"/>
              <a:defRPr sz="2800"/>
            </a:lvl1pPr>
            <a:lvl2pPr indent="-365760" lvl="1" marL="914400" algn="l">
              <a:spcBef>
                <a:spcPts val="480"/>
              </a:spcBef>
              <a:spcAft>
                <a:spcPts val="0"/>
              </a:spcAft>
              <a:buSzPts val="2160"/>
              <a:buChar char="▪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9pPr>
          </a:lstStyle>
          <a:p/>
        </p:txBody>
      </p:sp>
      <p:sp>
        <p:nvSpPr>
          <p:cNvPr id="58" name="Google Shape;58;p25"/>
          <p:cNvSpPr txBox="1"/>
          <p:nvPr>
            <p:ph idx="2" type="body"/>
          </p:nvPr>
        </p:nvSpPr>
        <p:spPr>
          <a:xfrm>
            <a:off x="4648200" y="1773936"/>
            <a:ext cx="4038600" cy="4623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370840" lvl="0" marL="457200" algn="l">
              <a:spcBef>
                <a:spcPts val="0"/>
              </a:spcBef>
              <a:spcAft>
                <a:spcPts val="0"/>
              </a:spcAft>
              <a:buSzPts val="2240"/>
              <a:buChar char="◼"/>
              <a:defRPr sz="2800"/>
            </a:lvl1pPr>
            <a:lvl2pPr indent="-365760" lvl="1" marL="914400" algn="l">
              <a:spcBef>
                <a:spcPts val="480"/>
              </a:spcBef>
              <a:spcAft>
                <a:spcPts val="0"/>
              </a:spcAft>
              <a:buSzPts val="2160"/>
              <a:buChar char="▪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9pPr>
          </a:lstStyle>
          <a:p/>
        </p:txBody>
      </p:sp>
      <p:sp>
        <p:nvSpPr>
          <p:cNvPr id="59" name="Google Shape;59;p25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5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6"/>
          <p:cNvSpPr txBox="1"/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457200" y="1698987"/>
            <a:ext cx="4040188" cy="7153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46300" spcFirstLastPara="1" rIns="91425" wrap="square" tIns="91425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40"/>
              <a:buNone/>
              <a:defRPr b="1" sz="2300" cap="none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p26"/>
          <p:cNvSpPr txBox="1"/>
          <p:nvPr>
            <p:ph idx="2" type="body"/>
          </p:nvPr>
        </p:nvSpPr>
        <p:spPr>
          <a:xfrm>
            <a:off x="457200" y="2449512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350520" lvl="0" marL="457200" algn="l">
              <a:spcBef>
                <a:spcPts val="0"/>
              </a:spcBef>
              <a:spcAft>
                <a:spcPts val="0"/>
              </a:spcAft>
              <a:buSzPts val="1920"/>
              <a:buChar char="◼"/>
              <a:defRPr sz="24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SzPts val="1800"/>
              <a:buChar char="▪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🢝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/>
        </p:txBody>
      </p:sp>
      <p:sp>
        <p:nvSpPr>
          <p:cNvPr id="66" name="Google Shape;66;p26"/>
          <p:cNvSpPr txBox="1"/>
          <p:nvPr>
            <p:ph idx="3" type="body"/>
          </p:nvPr>
        </p:nvSpPr>
        <p:spPr>
          <a:xfrm>
            <a:off x="4645025" y="1698987"/>
            <a:ext cx="4041775" cy="7153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46300" spcFirstLastPara="1" rIns="91425" wrap="square" tIns="91425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40"/>
              <a:buNone/>
              <a:defRPr b="1" sz="2300" cap="none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7" name="Google Shape;67;p26"/>
          <p:cNvSpPr txBox="1"/>
          <p:nvPr>
            <p:ph idx="4" type="body"/>
          </p:nvPr>
        </p:nvSpPr>
        <p:spPr>
          <a:xfrm>
            <a:off x="4645025" y="2449512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350520" lvl="0" marL="457200" algn="l">
              <a:spcBef>
                <a:spcPts val="0"/>
              </a:spcBef>
              <a:spcAft>
                <a:spcPts val="0"/>
              </a:spcAft>
              <a:buSzPts val="1920"/>
              <a:buChar char="◼"/>
              <a:defRPr sz="24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SzPts val="1800"/>
              <a:buChar char="▪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▪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🢝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9pPr>
          </a:lstStyle>
          <a:p/>
        </p:txBody>
      </p:sp>
      <p:sp>
        <p:nvSpPr>
          <p:cNvPr id="68" name="Google Shape;68;p26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6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7"/>
          <p:cNvSpPr txBox="1"/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showMasterSp="0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9"/>
          <p:cNvSpPr txBox="1"/>
          <p:nvPr>
            <p:ph type="title"/>
          </p:nvPr>
        </p:nvSpPr>
        <p:spPr>
          <a:xfrm>
            <a:off x="167838" y="152400"/>
            <a:ext cx="2523744" cy="97840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73150" spcFirstLastPara="1" rIns="457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2000"/>
              <a:buFont typeface="Corbel"/>
              <a:buNone/>
              <a:defRPr b="0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" type="body"/>
          </p:nvPr>
        </p:nvSpPr>
        <p:spPr>
          <a:xfrm>
            <a:off x="3019377" y="1743133"/>
            <a:ext cx="5920641" cy="45588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391160" lvl="0" marL="457200" algn="l">
              <a:spcBef>
                <a:spcPts val="0"/>
              </a:spcBef>
              <a:spcAft>
                <a:spcPts val="0"/>
              </a:spcAft>
              <a:buSzPts val="2560"/>
              <a:buChar char="◼"/>
              <a:defRPr sz="3200"/>
            </a:lvl1pPr>
            <a:lvl2pPr indent="-388619" lvl="1" marL="914400" algn="l">
              <a:spcBef>
                <a:spcPts val="560"/>
              </a:spcBef>
              <a:spcAft>
                <a:spcPts val="0"/>
              </a:spcAft>
              <a:buSzPts val="2520"/>
              <a:buChar char="▪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▪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🢝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9pPr>
          </a:lstStyle>
          <a:p/>
        </p:txBody>
      </p:sp>
      <p:sp>
        <p:nvSpPr>
          <p:cNvPr id="83" name="Google Shape;83;p29"/>
          <p:cNvSpPr txBox="1"/>
          <p:nvPr>
            <p:ph idx="2" type="body"/>
          </p:nvPr>
        </p:nvSpPr>
        <p:spPr>
          <a:xfrm>
            <a:off x="167838" y="1730018"/>
            <a:ext cx="246888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4" name="Google Shape;84;p29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9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9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7" name="Google Shape;87;p29"/>
          <p:cNvSpPr/>
          <p:nvPr/>
        </p:nvSpPr>
        <p:spPr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8" name="Google Shape;88;p29"/>
          <p:cNvSpPr/>
          <p:nvPr/>
        </p:nvSpPr>
        <p:spPr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0"/>
          <p:cNvSpPr txBox="1"/>
          <p:nvPr>
            <p:ph type="title"/>
          </p:nvPr>
        </p:nvSpPr>
        <p:spPr>
          <a:xfrm>
            <a:off x="164592" y="155448"/>
            <a:ext cx="2525150" cy="97840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73150" spcFirstLastPara="1" rIns="457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2000"/>
              <a:buFont typeface="Corbel"/>
              <a:buNone/>
              <a:defRPr b="0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0"/>
          <p:cNvSpPr/>
          <p:nvPr>
            <p:ph idx="2" type="pic"/>
          </p:nvPr>
        </p:nvSpPr>
        <p:spPr>
          <a:xfrm>
            <a:off x="2903805" y="1484808"/>
            <a:ext cx="6247397" cy="5373192"/>
          </a:xfrm>
          <a:prstGeom prst="rect">
            <a:avLst/>
          </a:prstGeom>
          <a:solidFill>
            <a:srgbClr val="BABABB"/>
          </a:solidFill>
          <a:ln>
            <a:noFill/>
          </a:ln>
        </p:spPr>
      </p:sp>
      <p:sp>
        <p:nvSpPr>
          <p:cNvPr id="92" name="Google Shape;92;p30"/>
          <p:cNvSpPr txBox="1"/>
          <p:nvPr>
            <p:ph idx="1" type="body"/>
          </p:nvPr>
        </p:nvSpPr>
        <p:spPr>
          <a:xfrm>
            <a:off x="164592" y="1728216"/>
            <a:ext cx="246888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3" name="Google Shape;93;p30"/>
          <p:cNvSpPr txBox="1"/>
          <p:nvPr>
            <p:ph idx="10" type="dt"/>
          </p:nvPr>
        </p:nvSpPr>
        <p:spPr>
          <a:xfrm>
            <a:off x="164592" y="1170432"/>
            <a:ext cx="2523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5" name="Google Shape;95;p3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6" name="Google Shape;96;p30"/>
          <p:cNvSpPr txBox="1"/>
          <p:nvPr>
            <p:ph idx="11" type="ftr"/>
          </p:nvPr>
        </p:nvSpPr>
        <p:spPr>
          <a:xfrm>
            <a:off x="3035808" y="1170432"/>
            <a:ext cx="51937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BABAB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30"/>
          <p:cNvSpPr txBox="1"/>
          <p:nvPr>
            <p:ph idx="12" type="sldNum"/>
          </p:nvPr>
        </p:nvSpPr>
        <p:spPr>
          <a:xfrm>
            <a:off x="8339328" y="1170432"/>
            <a:ext cx="7338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1"/>
          <p:cNvSpPr txBox="1"/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1"/>
          <p:cNvSpPr txBox="1"/>
          <p:nvPr>
            <p:ph idx="1" type="body"/>
          </p:nvPr>
        </p:nvSpPr>
        <p:spPr>
          <a:xfrm rot="5400000">
            <a:off x="2259196" y="-26804"/>
            <a:ext cx="4625609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320040" lvl="0" marL="457200" algn="l">
              <a:spcBef>
                <a:spcPts val="0"/>
              </a:spcBef>
              <a:spcAft>
                <a:spcPts val="0"/>
              </a:spcAft>
              <a:buSzPts val="1440"/>
              <a:buChar char="◼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01" name="Google Shape;101;p31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1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1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showMasterSp="0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2"/>
          <p:cNvSpPr/>
          <p:nvPr/>
        </p:nvSpPr>
        <p:spPr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rotWithShape="0" algn="tl" dir="10800000" dist="1016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6" name="Google Shape;106;p32"/>
          <p:cNvSpPr/>
          <p:nvPr/>
        </p:nvSpPr>
        <p:spPr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7" name="Google Shape;107;p32"/>
          <p:cNvSpPr txBox="1"/>
          <p:nvPr>
            <p:ph type="title"/>
          </p:nvPr>
        </p:nvSpPr>
        <p:spPr>
          <a:xfrm rot="5400000">
            <a:off x="4808538" y="2247903"/>
            <a:ext cx="5851525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2"/>
          <p:cNvSpPr txBox="1"/>
          <p:nvPr>
            <p:ph idx="1" type="body"/>
          </p:nvPr>
        </p:nvSpPr>
        <p:spPr>
          <a:xfrm rot="5400000">
            <a:off x="541338" y="22066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320040" lvl="0" marL="457200" algn="l">
              <a:spcBef>
                <a:spcPts val="0"/>
              </a:spcBef>
              <a:spcAft>
                <a:spcPts val="0"/>
              </a:spcAft>
              <a:buSzPts val="1440"/>
              <a:buChar char="◼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▪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09" name="Google Shape;109;p32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2"/>
          <p:cNvSpPr txBox="1"/>
          <p:nvPr>
            <p:ph idx="11" type="ftr"/>
          </p:nvPr>
        </p:nvSpPr>
        <p:spPr>
          <a:xfrm>
            <a:off x="2640597" y="6377459"/>
            <a:ext cx="38364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32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/>
          <p:nvPr/>
        </p:nvSpPr>
        <p:spPr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rotWithShape="0" algn="tl" dir="5400000" dist="1016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" name="Google Shape;11;p20"/>
          <p:cNvSpPr/>
          <p:nvPr/>
        </p:nvSpPr>
        <p:spPr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" name="Google Shape;12;p20"/>
          <p:cNvSpPr txBox="1"/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  <a:defRPr b="1" i="0" sz="4500" u="none" cap="none" strike="noStrik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20"/>
          <p:cNvSpPr txBox="1"/>
          <p:nvPr>
            <p:ph idx="1" type="body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39116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◼"/>
              <a:defRPr b="0" i="0" sz="3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88619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Noto Sans Symbols"/>
              <a:buChar char="▪"/>
              <a:defRPr b="0" i="0" sz="2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▪"/>
              <a:defRPr b="0" i="0" sz="2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Char char="▪"/>
              <a:defRPr b="0" i="0" sz="2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🢝"/>
              <a:defRPr b="0" i="0" sz="2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/>
          <p:nvPr/>
        </p:nvSpPr>
        <p:spPr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1750" rotWithShape="0" algn="tl" dir="5400000" dist="1016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7" name="Google Shape;27;p19"/>
          <p:cNvSpPr/>
          <p:nvPr/>
        </p:nvSpPr>
        <p:spPr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8" name="Google Shape;28;p19"/>
          <p:cNvSpPr txBox="1"/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  <a:defRPr b="1" i="0" sz="4500" u="none" cap="none" strike="noStrike">
                <a:solidFill>
                  <a:srgbClr val="FFC700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>
            <a:lvl1pPr indent="-39116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◼"/>
              <a:defRPr b="0" i="0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88619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52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Char char="▪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Arial"/>
              <a:buChar char="▪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🢝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09725" spcFirstLastPara="1" rIns="4570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45700" spcFirstLastPara="1" rIns="45700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41414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youtube.com/@ProgGabrielDalalio" TargetMode="External"/><Relationship Id="rId4" Type="http://schemas.openxmlformats.org/officeDocument/2006/relationships/hyperlink" Target="https://www.instagram.com/gabrieldalalioprog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spoj.com/problems/STPAR/en/" TargetMode="External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spoj.com/problems/BRCKTS2/en/" TargetMode="External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p-algorithms.com/data_structures/stack_queue_modification.html" TargetMode="External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codeforces.com/problemset/problem/480/E" TargetMode="External"/><Relationship Id="rId4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spoj.com/problems/EXPEDI/en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codeforces.com/problemset/problem/1922/D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cp-algorithms.com/data_structures/sparse-table.html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codeforces.com/problemset/problem/475/D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cp-algorithms.com/data_structures/fenwick.html" TargetMode="External"/><Relationship Id="rId4" Type="http://schemas.openxmlformats.org/officeDocument/2006/relationships/image" Target="../media/image2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onlinejudge.org/index.php?option=com_onlinejudge&amp;Itemid=8&amp;page=show_problem&amp;problem=3141" TargetMode="External"/><Relationship Id="rId4" Type="http://schemas.openxmlformats.org/officeDocument/2006/relationships/hyperlink" Target="https://robert1003.github.io/2020/01/31/cdq-divide-and-conquer.html" TargetMode="External"/><Relationship Id="rId5" Type="http://schemas.openxmlformats.org/officeDocument/2006/relationships/hyperlink" Target="https://usaco.guide/plat/2DRQ?lang=cpp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codeforces.com/problemset/problem/369/E" TargetMode="External"/><Relationship Id="rId4" Type="http://schemas.openxmlformats.org/officeDocument/2006/relationships/hyperlink" Target="https://codeforces.com/gym/106178/problem/L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www.spoj.com/problems/DQUERY/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cp-algorithms.com/data_structures/segment_tree.html" TargetMode="External"/><Relationship Id="rId4" Type="http://schemas.openxmlformats.org/officeDocument/2006/relationships/image" Target="../media/image1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www.spoj.com/problems/POSTERS/en/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www.spoj.com/problems/BRCKTS/en/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"/>
          <p:cNvSpPr txBox="1"/>
          <p:nvPr>
            <p:ph type="ctrTitle"/>
          </p:nvPr>
        </p:nvSpPr>
        <p:spPr>
          <a:xfrm>
            <a:off x="685800" y="3355848"/>
            <a:ext cx="8077200" cy="1673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4570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700"/>
              <a:buFont typeface="Corbel"/>
              <a:buNone/>
            </a:pPr>
            <a:r>
              <a:rPr lang="pt-BR"/>
              <a:t>Dia 1 - Estruturas de dados</a:t>
            </a:r>
            <a:endParaRPr/>
          </a:p>
        </p:txBody>
      </p:sp>
      <p:sp>
        <p:nvSpPr>
          <p:cNvPr id="117" name="Google Shape;117;p1"/>
          <p:cNvSpPr txBox="1"/>
          <p:nvPr>
            <p:ph idx="1" type="subTitle"/>
          </p:nvPr>
        </p:nvSpPr>
        <p:spPr>
          <a:xfrm>
            <a:off x="685800" y="1828800"/>
            <a:ext cx="8077200" cy="149961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18850" spcFirstLastPara="1" rIns="4570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pt-BR"/>
              <a:t>Gabriel Dalalio</a:t>
            </a:r>
            <a:endParaRPr/>
          </a:p>
        </p:txBody>
      </p:sp>
      <p:sp>
        <p:nvSpPr>
          <p:cNvPr id="118" name="Google Shape;118;p1"/>
          <p:cNvSpPr/>
          <p:nvPr/>
        </p:nvSpPr>
        <p:spPr>
          <a:xfrm>
            <a:off x="0" y="50"/>
            <a:ext cx="9144000" cy="210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19" name="Google Shape;119;p1" title="BrazilianICPCSummerScho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9644"/>
            <a:ext cx="9144000" cy="2043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Bem vindos!</a:t>
            </a:r>
            <a:endParaRPr/>
          </a:p>
        </p:txBody>
      </p:sp>
      <p:sp>
        <p:nvSpPr>
          <p:cNvPr id="126" name="Google Shape;126;p2"/>
          <p:cNvSpPr txBox="1"/>
          <p:nvPr>
            <p:ph idx="1" type="body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2560"/>
              <a:buChar char="◼"/>
            </a:pPr>
            <a:r>
              <a:rPr lang="pt-BR"/>
              <a:t>Gabriel Dalalio</a:t>
            </a:r>
            <a:endParaRPr/>
          </a:p>
          <a:p>
            <a:pPr indent="-248920" lvl="0" marL="438912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Formado no ITA, Eng. de computa</a:t>
            </a:r>
            <a:r>
              <a:rPr lang="pt-BR"/>
              <a:t>ção (2013)</a:t>
            </a:r>
            <a:endParaRPr/>
          </a:p>
          <a:p>
            <a:pPr indent="-248920" lvl="0" marL="438912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Competidor da maratona 2009-2012</a:t>
            </a:r>
            <a:endParaRPr/>
          </a:p>
          <a:p>
            <a:pPr indent="-248920" lvl="0" marL="438912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Youtube: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Programando com Gabriel Dalalio</a:t>
            </a:r>
            <a:endParaRPr/>
          </a:p>
          <a:p>
            <a:pPr indent="-248920" lvl="0" marL="438912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Instagram: </a:t>
            </a:r>
            <a:r>
              <a:rPr lang="pt-BR" u="sng">
                <a:solidFill>
                  <a:schemeClr val="hlink"/>
                </a:solidFill>
                <a:hlinkClick r:id="rId4"/>
              </a:rPr>
              <a:t>@gabrieldalalioprog</a:t>
            </a:r>
            <a:endParaRPr/>
          </a:p>
          <a:p>
            <a:pPr indent="-248920" lvl="0" marL="438912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Contato: gabrieldalaliocontato@gmail.com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Cronograma</a:t>
            </a:r>
            <a:endParaRPr/>
          </a:p>
        </p:txBody>
      </p:sp>
      <p:sp>
        <p:nvSpPr>
          <p:cNvPr id="132" name="Google Shape;132;p3"/>
          <p:cNvSpPr txBox="1"/>
          <p:nvPr>
            <p:ph idx="1" type="body"/>
          </p:nvPr>
        </p:nvSpPr>
        <p:spPr>
          <a:xfrm>
            <a:off x="168750" y="1678325"/>
            <a:ext cx="8806500" cy="49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 fontScale="85000" lnSpcReduction="10000"/>
          </a:bodyPr>
          <a:lstStyle/>
          <a:p>
            <a:pPr indent="-366776" lvl="0" marL="438912" rtl="0" algn="l">
              <a:spcBef>
                <a:spcPts val="0"/>
              </a:spcBef>
              <a:spcAft>
                <a:spcPts val="0"/>
              </a:spcAft>
              <a:buSzPct val="80000"/>
              <a:buChar char="◼"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Dia 1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6324" lvl="0" marL="438912" rtl="0" algn="l">
              <a:spcBef>
                <a:spcPts val="0"/>
              </a:spcBef>
              <a:spcAft>
                <a:spcPts val="0"/>
              </a:spcAft>
              <a:buSzPct val="45000"/>
              <a:buFont typeface="Arial"/>
              <a:buChar char="◼"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Contest: Estrutura de dados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6324" lvl="0" marL="438912" rtl="0" algn="l">
              <a:spcBef>
                <a:spcPts val="0"/>
              </a:spcBef>
              <a:spcAft>
                <a:spcPts val="0"/>
              </a:spcAft>
              <a:buSzPct val="45000"/>
              <a:buFont typeface="Arial"/>
              <a:buChar char="◼"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Aula: Estrutura de dados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38912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66776" lvl="0" marL="438912" rtl="0" algn="l">
              <a:spcBef>
                <a:spcPts val="1000"/>
              </a:spcBef>
              <a:spcAft>
                <a:spcPts val="0"/>
              </a:spcAft>
              <a:buSzPct val="80000"/>
              <a:buChar char="◼"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Dia 2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6324" lvl="0" marL="438912" rtl="0" algn="l">
              <a:spcBef>
                <a:spcPts val="0"/>
              </a:spcBef>
              <a:spcAft>
                <a:spcPts val="0"/>
              </a:spcAft>
              <a:buSzPct val="45000"/>
              <a:buFont typeface="Arial"/>
              <a:buChar char="◼"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Contest: Grafos + Estrutura de dados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6324" lvl="0" marL="438912" rtl="0" algn="l">
              <a:spcBef>
                <a:spcPts val="0"/>
              </a:spcBef>
              <a:spcAft>
                <a:spcPts val="0"/>
              </a:spcAft>
              <a:buSzPct val="45000"/>
              <a:buFont typeface="Arial"/>
              <a:buChar char="◼"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Aula: Grafos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438912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66776" lvl="0" marL="438912" rtl="0" algn="l">
              <a:spcBef>
                <a:spcPts val="1000"/>
              </a:spcBef>
              <a:spcAft>
                <a:spcPts val="0"/>
              </a:spcAft>
              <a:buSzPct val="80000"/>
              <a:buChar char="◼"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Dia 3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6324" lvl="0" marL="438912" rtl="0" algn="l">
              <a:spcBef>
                <a:spcPts val="0"/>
              </a:spcBef>
              <a:spcAft>
                <a:spcPts val="0"/>
              </a:spcAft>
              <a:buSzPct val="45000"/>
              <a:buFont typeface="Arial"/>
              <a:buChar char="◼"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Contest: Teoria dos jogos + Grafos + Estr. de dados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6324" lvl="0" marL="438912" rtl="0" algn="l">
              <a:spcBef>
                <a:spcPts val="0"/>
              </a:spcBef>
              <a:spcAft>
                <a:spcPts val="0"/>
              </a:spcAft>
              <a:buSzPct val="45000"/>
              <a:buFont typeface="Arial"/>
              <a:buChar char="◼"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Aula: Teoria dos jogos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2bdfc5b33_0_4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Metodologia did</a:t>
            </a:r>
            <a:r>
              <a:rPr lang="pt-BR"/>
              <a:t>ática</a:t>
            </a:r>
            <a:endParaRPr/>
          </a:p>
        </p:txBody>
      </p:sp>
      <p:sp>
        <p:nvSpPr>
          <p:cNvPr id="138" name="Google Shape;138;g392bdfc5b33_0_4"/>
          <p:cNvSpPr txBox="1"/>
          <p:nvPr>
            <p:ph idx="1" type="body"/>
          </p:nvPr>
        </p:nvSpPr>
        <p:spPr>
          <a:xfrm>
            <a:off x="168750" y="1678325"/>
            <a:ext cx="8806500" cy="49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38912" rtl="0" algn="l">
              <a:spcBef>
                <a:spcPts val="0"/>
              </a:spcBef>
              <a:spcAft>
                <a:spcPts val="0"/>
              </a:spcAft>
              <a:buSzPts val="1440"/>
              <a:buFont typeface="Arial"/>
              <a:buChar char="◼"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Na base do sofrimento!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4640" lvl="0" marL="438912" rtl="0" algn="l">
              <a:spcBef>
                <a:spcPts val="0"/>
              </a:spcBef>
              <a:spcAft>
                <a:spcPts val="0"/>
              </a:spcAft>
              <a:buSzPts val="1040"/>
              <a:buFont typeface="Arial"/>
              <a:buChar char="◼"/>
            </a:pPr>
            <a:r>
              <a:rPr lang="pt-BR" sz="2800">
                <a:latin typeface="Arial"/>
                <a:ea typeface="Arial"/>
                <a:cs typeface="Arial"/>
                <a:sym typeface="Arial"/>
              </a:rPr>
              <a:t>Primeiro sofre no contest e depois aprende na aula!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" name="Google Shape;139;g392bdfc5b33_0_4"/>
          <p:cNvPicPr preferRelativeResize="0"/>
          <p:nvPr/>
        </p:nvPicPr>
        <p:blipFill rotWithShape="1">
          <a:blip r:embed="rId3">
            <a:alphaModFix/>
          </a:blip>
          <a:srcRect b="0" l="0" r="0" t="24127"/>
          <a:stretch/>
        </p:blipFill>
        <p:spPr>
          <a:xfrm>
            <a:off x="3038701" y="2916400"/>
            <a:ext cx="3066600" cy="3584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"/>
          <p:cNvSpPr txBox="1"/>
          <p:nvPr>
            <p:ph type="title"/>
          </p:nvPr>
        </p:nvSpPr>
        <p:spPr>
          <a:xfrm>
            <a:off x="457200" y="155448"/>
            <a:ext cx="8229600" cy="1252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Estruturas de dados</a:t>
            </a:r>
            <a:endParaRPr/>
          </a:p>
        </p:txBody>
      </p:sp>
      <p:sp>
        <p:nvSpPr>
          <p:cNvPr id="145" name="Google Shape;145;p4"/>
          <p:cNvSpPr txBox="1"/>
          <p:nvPr>
            <p:ph idx="1" type="body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 lnSpcReduction="20000"/>
          </a:bodyPr>
          <a:lstStyle/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Estruturas b</a:t>
            </a:r>
            <a:r>
              <a:rPr lang="pt-BR"/>
              <a:t>ásicas do C++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Pilha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Fila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Fila de prioridade, Heap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Lista ligada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Sparse table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Fenwick tree (BIT)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Segment Tree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14300" lvl="1" marL="731520" rtl="0" algn="l">
              <a:spcBef>
                <a:spcPts val="56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2bdfc5b33_0_109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Estruturas de dados</a:t>
            </a:r>
            <a:endParaRPr/>
          </a:p>
        </p:txBody>
      </p:sp>
      <p:sp>
        <p:nvSpPr>
          <p:cNvPr id="151" name="Google Shape;151;g392bdfc5b33_0_109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Estrat</a:t>
            </a:r>
            <a:r>
              <a:rPr lang="pt-BR"/>
              <a:t>égias gerais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Estruturas din</a:t>
            </a:r>
            <a:r>
              <a:rPr lang="pt-BR"/>
              <a:t>âmicas vs. estáticas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Queries online vs. offline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Ordenação de queries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Agrupamento de queries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14300" lvl="1" marL="731520" rtl="0" algn="l">
              <a:spcBef>
                <a:spcPts val="56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2bdfc5b33_0_10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Estruturas básicas do C++</a:t>
            </a:r>
            <a:endParaRPr/>
          </a:p>
        </p:txBody>
      </p:sp>
      <p:sp>
        <p:nvSpPr>
          <p:cNvPr id="157" name="Google Shape;157;g392bdfc5b33_0_10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Primitivas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Arrays, matrizes…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Struct, pair, tuple…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STL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vector, queue, deque, stack…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set, map, priority_queue…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iteradores, lower_bound…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2bdfc5b33_0_15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Pilha</a:t>
            </a:r>
            <a:endParaRPr/>
          </a:p>
        </p:txBody>
      </p:sp>
      <p:sp>
        <p:nvSpPr>
          <p:cNvPr id="163" name="Google Shape;163;g392bdfc5b33_0_15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LIFO: Last-in, First-Out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Pode ser implementada com vector, stack…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Checagem de </a:t>
            </a:r>
            <a:r>
              <a:rPr lang="pt-BR"/>
              <a:t>parêntesis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14300" lvl="1" marL="731520" rtl="0" algn="l">
              <a:spcBef>
                <a:spcPts val="56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/>
          </a:p>
        </p:txBody>
      </p:sp>
      <p:pic>
        <p:nvPicPr>
          <p:cNvPr id="164" name="Google Shape;164;g392bdfc5b33_0_15"/>
          <p:cNvPicPr preferRelativeResize="0"/>
          <p:nvPr/>
        </p:nvPicPr>
        <p:blipFill rotWithShape="1">
          <a:blip r:embed="rId3">
            <a:alphaModFix/>
          </a:blip>
          <a:srcRect b="29268" l="0" r="15254" t="0"/>
          <a:stretch/>
        </p:blipFill>
        <p:spPr>
          <a:xfrm>
            <a:off x="773700" y="3982739"/>
            <a:ext cx="7990274" cy="206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2bdfc5b33_0_21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Pilha</a:t>
            </a:r>
            <a:endParaRPr/>
          </a:p>
        </p:txBody>
      </p:sp>
      <p:sp>
        <p:nvSpPr>
          <p:cNvPr id="170" name="Google Shape;170;g392bdfc5b33_0_21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Next greater element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14300" lvl="1" marL="731520" rtl="0" algn="l">
              <a:spcBef>
                <a:spcPts val="56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/>
          </a:p>
        </p:txBody>
      </p:sp>
      <p:pic>
        <p:nvPicPr>
          <p:cNvPr id="171" name="Google Shape;171;g392bdfc5b33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00" y="2410300"/>
            <a:ext cx="7772400" cy="437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2bdfc5b33_0_35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Pilha</a:t>
            </a:r>
            <a:endParaRPr/>
          </a:p>
        </p:txBody>
      </p:sp>
      <p:sp>
        <p:nvSpPr>
          <p:cNvPr id="177" name="Google Shape;177;g392bdfc5b33_0_35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Maior </a:t>
            </a:r>
            <a:r>
              <a:rPr lang="pt-BR"/>
              <a:t>retângulo</a:t>
            </a:r>
            <a:r>
              <a:rPr lang="pt-BR"/>
              <a:t> em um histograma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14300" lvl="1" marL="731520" rtl="0" algn="l">
              <a:spcBef>
                <a:spcPts val="56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/>
          </a:p>
        </p:txBody>
      </p:sp>
      <p:pic>
        <p:nvPicPr>
          <p:cNvPr id="178" name="Google Shape;178;g392bdfc5b33_0_35"/>
          <p:cNvPicPr preferRelativeResize="0"/>
          <p:nvPr/>
        </p:nvPicPr>
        <p:blipFill rotWithShape="1">
          <a:blip r:embed="rId3">
            <a:alphaModFix/>
          </a:blip>
          <a:srcRect b="7646" l="0" r="0" t="0"/>
          <a:stretch/>
        </p:blipFill>
        <p:spPr>
          <a:xfrm>
            <a:off x="2190863" y="2605675"/>
            <a:ext cx="4762275" cy="4113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2bdfc5b33_0_45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Pilha</a:t>
            </a:r>
            <a:endParaRPr/>
          </a:p>
        </p:txBody>
      </p:sp>
      <p:sp>
        <p:nvSpPr>
          <p:cNvPr id="184" name="Google Shape;184;g392bdfc5b33_0_45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Problemas no contest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https://www.spoj.com/problems/STPAR/en/</a:t>
            </a:r>
            <a:r>
              <a:rPr lang="pt-BR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14300" lvl="1" marL="731520" rtl="0" algn="l">
              <a:spcBef>
                <a:spcPts val="56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/>
          </a:p>
        </p:txBody>
      </p:sp>
      <p:pic>
        <p:nvPicPr>
          <p:cNvPr id="185" name="Google Shape;185;g392bdfc5b33_0_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5101" y="3094200"/>
            <a:ext cx="7333800" cy="358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2bdfc5b33_0_54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Pilha</a:t>
            </a:r>
            <a:endParaRPr/>
          </a:p>
        </p:txBody>
      </p:sp>
      <p:sp>
        <p:nvSpPr>
          <p:cNvPr id="191" name="Google Shape;191;g392bdfc5b33_0_54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Problemas no contest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https://www.spoj.com/problems/BRCKTS2/en/</a:t>
            </a:r>
            <a:r>
              <a:rPr lang="pt-BR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14300" lvl="1" marL="731520" rtl="0" algn="l">
              <a:spcBef>
                <a:spcPts val="56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/>
          </a:p>
        </p:txBody>
      </p:sp>
      <p:pic>
        <p:nvPicPr>
          <p:cNvPr id="192" name="Google Shape;192;g392bdfc5b33_0_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150" y="3117250"/>
            <a:ext cx="8023700" cy="152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g392bdfc5b33_0_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2633" y="5015342"/>
            <a:ext cx="6878750" cy="160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2bdfc5b33_0_63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Fila</a:t>
            </a:r>
            <a:endParaRPr/>
          </a:p>
        </p:txBody>
      </p:sp>
      <p:sp>
        <p:nvSpPr>
          <p:cNvPr id="199" name="Google Shape;199;g392bdfc5b33_0_63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FIFO: First-In, First-out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Pode ser implementada com vector, queue…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deque para Double ended queue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14300" lvl="1" marL="731520" rtl="0" algn="l">
              <a:spcBef>
                <a:spcPts val="560"/>
              </a:spcBef>
              <a:spcAft>
                <a:spcPts val="0"/>
              </a:spcAft>
              <a:buSzPts val="2520"/>
              <a:buNone/>
            </a:pPr>
            <a:r>
              <a:t/>
            </a:r>
            <a:endParaRPr/>
          </a:p>
        </p:txBody>
      </p:sp>
      <p:pic>
        <p:nvPicPr>
          <p:cNvPr id="200" name="Google Shape;200;g392bdfc5b33_0_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200" y="3588325"/>
            <a:ext cx="5943600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2bdfc5b33_0_71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Fila</a:t>
            </a:r>
            <a:endParaRPr/>
          </a:p>
        </p:txBody>
      </p:sp>
      <p:sp>
        <p:nvSpPr>
          <p:cNvPr id="206" name="Google Shape;206;g392bdfc5b33_0_71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Aplica</a:t>
            </a:r>
            <a:r>
              <a:rPr lang="pt-BR"/>
              <a:t>ção interessante: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Minimum Queue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Implementação de uma fila que pode dizer quem é o elemento mínimo rapidamente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Várias formas de se implementar, uma ideia é somente manter na fila os elementos que podem ser mínimo em algum momento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Pode se usar double ended queue para implementar</a:t>
            </a:r>
            <a:endParaRPr/>
          </a:p>
        </p:txBody>
      </p:sp>
      <p:pic>
        <p:nvPicPr>
          <p:cNvPr id="207" name="Google Shape;207;g392bdfc5b33_0_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3263" y="5847850"/>
            <a:ext cx="2857475" cy="84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2bdfc5b33_0_80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Fila</a:t>
            </a:r>
            <a:endParaRPr/>
          </a:p>
        </p:txBody>
      </p:sp>
      <p:sp>
        <p:nvSpPr>
          <p:cNvPr id="213" name="Google Shape;213;g392bdfc5b33_0_80"/>
          <p:cNvSpPr txBox="1"/>
          <p:nvPr>
            <p:ph idx="1" type="body"/>
          </p:nvPr>
        </p:nvSpPr>
        <p:spPr>
          <a:xfrm>
            <a:off x="457200" y="1664366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 lnSpcReduction="10000"/>
          </a:bodyPr>
          <a:lstStyle/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Adicionando elemento: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Removendo elemento</a:t>
            </a:r>
            <a:r>
              <a:rPr lang="pt-BR"/>
              <a:t>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Dessa maneira o mínimo é sempre o front()</a:t>
            </a:r>
            <a:endParaRPr/>
          </a:p>
        </p:txBody>
      </p:sp>
      <p:pic>
        <p:nvPicPr>
          <p:cNvPr id="214" name="Google Shape;214;g392bdfc5b33_0_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588" y="2290699"/>
            <a:ext cx="7730849" cy="155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g392bdfc5b33_0_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8138" y="4535901"/>
            <a:ext cx="7647726" cy="103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92bdfc5b33_0_90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Fila</a:t>
            </a:r>
            <a:endParaRPr/>
          </a:p>
        </p:txBody>
      </p:sp>
      <p:sp>
        <p:nvSpPr>
          <p:cNvPr id="221" name="Google Shape;221;g392bdfc5b33_0_90"/>
          <p:cNvSpPr txBox="1"/>
          <p:nvPr>
            <p:ph idx="1" type="body"/>
          </p:nvPr>
        </p:nvSpPr>
        <p:spPr>
          <a:xfrm>
            <a:off x="457200" y="1664366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Uso comum em problemas de sliding window, two pointers</a:t>
            </a:r>
            <a:endParaRPr/>
          </a:p>
        </p:txBody>
      </p:sp>
      <p:pic>
        <p:nvPicPr>
          <p:cNvPr id="222" name="Google Shape;222;g392bdfc5b33_0_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00" y="3070350"/>
            <a:ext cx="6400801" cy="11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g392bdfc5b33_0_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8587" y="4359625"/>
            <a:ext cx="6206826" cy="104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g392bdfc5b33_0_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8575" y="5582041"/>
            <a:ext cx="6206850" cy="1042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92bdfc5b33_0_100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Fila</a:t>
            </a:r>
            <a:endParaRPr/>
          </a:p>
        </p:txBody>
      </p:sp>
      <p:sp>
        <p:nvSpPr>
          <p:cNvPr id="230" name="Google Shape;230;g392bdfc5b33_0_100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Problema na prova: 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 u="sng">
                <a:solidFill>
                  <a:schemeClr val="hlink"/>
                </a:solidFill>
                <a:hlinkClick r:id="rId3"/>
              </a:rPr>
              <a:t>Parking Lot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Maior quadrado livre numa matriz binária com queries adicionando 1 extras na matriz</a:t>
            </a:r>
            <a:endParaRPr/>
          </a:p>
        </p:txBody>
      </p:sp>
      <p:pic>
        <p:nvPicPr>
          <p:cNvPr id="231" name="Google Shape;231;g392bdfc5b33_0_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3363" y="4003950"/>
            <a:ext cx="1477275" cy="251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g392bdfc5b33_0_100"/>
          <p:cNvSpPr/>
          <p:nvPr/>
        </p:nvSpPr>
        <p:spPr>
          <a:xfrm>
            <a:off x="4253350" y="4738250"/>
            <a:ext cx="845100" cy="1778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92bdfc5b33_0_114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Fila</a:t>
            </a:r>
            <a:endParaRPr/>
          </a:p>
        </p:txBody>
      </p:sp>
      <p:sp>
        <p:nvSpPr>
          <p:cNvPr id="238" name="Google Shape;238;g392bdfc5b33_0_114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Fazendo queries ao contr</a:t>
            </a:r>
            <a:r>
              <a:rPr lang="pt-BR"/>
              <a:t>ário, precisamos apenas retirar pontos e ver se a resposta aumenta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Se a resposta aumentar, o novo maior quadrado precisa necessariamente passar pelo ponto retirado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O problema se reduz a maior quadrado preso entre dois histogramas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Two pointer + minimum queue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92bdfc5b33_0_121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Fila de prioridade</a:t>
            </a:r>
            <a:endParaRPr/>
          </a:p>
        </p:txBody>
      </p:sp>
      <p:sp>
        <p:nvSpPr>
          <p:cNvPr id="244" name="Google Shape;244;g392bdfc5b33_0_121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Fila onde o menor/maior passa na frente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STL priority_queue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Pode ser implementada com set tamb</a:t>
            </a:r>
            <a:r>
              <a:rPr lang="pt-BR"/>
              <a:t>ém para aplicações com remoções arbitrárias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Problema na prova: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 u="sng">
                <a:solidFill>
                  <a:schemeClr val="hlink"/>
                </a:solidFill>
                <a:hlinkClick r:id="rId3"/>
              </a:rPr>
              <a:t>SPOJ Expedition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Simulação gulosa sempre parando onde tem mais gasolina para pegar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2bdfc5b33_0_127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Lista ligada</a:t>
            </a:r>
            <a:endParaRPr/>
          </a:p>
        </p:txBody>
      </p:sp>
      <p:sp>
        <p:nvSpPr>
          <p:cNvPr id="250" name="Google Shape;250;g392bdfc5b33_0_127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Lista simples e duplamente ligada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Insere, remove, concatena: O(1)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Boa para saber quem </a:t>
            </a:r>
            <a:r>
              <a:rPr lang="pt-BR"/>
              <a:t>é vizinho de quem: O(1)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Ruim </a:t>
            </a:r>
            <a:r>
              <a:rPr lang="pt-BR"/>
              <a:t>para saber o i-ésimo elemento: O(N)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Implementação com int ou ponteiro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g392bdfc5b33_0_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850" y="4545238"/>
            <a:ext cx="7734300" cy="210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92bdfc5b33_0_133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Lista ligada</a:t>
            </a:r>
            <a:endParaRPr/>
          </a:p>
        </p:txBody>
      </p:sp>
      <p:sp>
        <p:nvSpPr>
          <p:cNvPr id="257" name="Google Shape;257;g392bdfc5b33_0_133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Mais raro de aparecer em provas, pois outras estruturas acabam tendo mais vantagens sobre a lista ligada, fa</a:t>
            </a:r>
            <a:r>
              <a:rPr lang="pt-BR"/>
              <a:t>cilmente esquecida :(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Mas teve apari</a:t>
            </a:r>
            <a:r>
              <a:rPr lang="pt-BR"/>
              <a:t>ção recente em prova latino americana!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E na nossa prova também :P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92bdfc5b33_0_139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Lista ligada</a:t>
            </a:r>
            <a:endParaRPr/>
          </a:p>
        </p:txBody>
      </p:sp>
      <p:sp>
        <p:nvSpPr>
          <p:cNvPr id="263" name="Google Shape;263;g392bdfc5b33_0_139"/>
          <p:cNvSpPr txBox="1"/>
          <p:nvPr>
            <p:ph idx="1" type="body"/>
          </p:nvPr>
        </p:nvSpPr>
        <p:spPr>
          <a:xfrm>
            <a:off x="180100" y="1775200"/>
            <a:ext cx="8839200" cy="50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 lnSpcReduction="10000"/>
          </a:bodyPr>
          <a:lstStyle/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Problema na prova: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Berserk Monsters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Monstros em linha batem nos vizinhos ao mesmo tempo, se bater mais do que os pontos de defesa do monstro, ele morre e deixa a linha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Você só precisa saber vizinhos dos monstros e remover -&gt; perfeito para lista ligada!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Inicialmente você precisa checar todos os n monstros, porém após isso só precisa verificar os monstros vizinhos dos que morreram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Máximo de 3n checagens, n iniciais, 2*n adicionais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Resposta em O(n), melhor que O(NlogN) utilizando set ou outras estruturas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92bdfc5b33_0_144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Sparse table</a:t>
            </a:r>
            <a:endParaRPr/>
          </a:p>
        </p:txBody>
      </p:sp>
      <p:sp>
        <p:nvSpPr>
          <p:cNvPr id="269" name="Google Shape;269;g392bdfc5b33_0_144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 u="sng">
                <a:solidFill>
                  <a:schemeClr val="hlink"/>
                </a:solidFill>
                <a:hlinkClick r:id="rId3"/>
              </a:rPr>
              <a:t>CP Algorithms: Sparse Table 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Boa estrutura para queries em problemas est</a:t>
            </a:r>
            <a:r>
              <a:rPr lang="pt-BR"/>
              <a:t>áticos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Importante entender pois é base de outros algoritmos: LCA, suffix array…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Código relativamente simples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92bdfc5b33_0_150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Sparse table</a:t>
            </a:r>
            <a:endParaRPr/>
          </a:p>
        </p:txBody>
      </p:sp>
      <p:sp>
        <p:nvSpPr>
          <p:cNvPr id="275" name="Google Shape;275;g392bdfc5b33_0_150"/>
          <p:cNvSpPr txBox="1"/>
          <p:nvPr>
            <p:ph idx="1" type="body"/>
          </p:nvPr>
        </p:nvSpPr>
        <p:spPr>
          <a:xfrm>
            <a:off x="457200" y="1678216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Pr</a:t>
            </a:r>
            <a:r>
              <a:rPr lang="pt-BR"/>
              <a:t>é computa uma operação sobre todos os sub-intervalos de tamanho potência de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6" name="Google Shape;276;g392bdfc5b33_0_150"/>
          <p:cNvPicPr preferRelativeResize="0"/>
          <p:nvPr/>
        </p:nvPicPr>
        <p:blipFill rotWithShape="1">
          <a:blip r:embed="rId3">
            <a:alphaModFix/>
          </a:blip>
          <a:srcRect b="0" l="38030" r="0" t="0"/>
          <a:stretch/>
        </p:blipFill>
        <p:spPr>
          <a:xfrm>
            <a:off x="2261475" y="3048000"/>
            <a:ext cx="4621026" cy="359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92bdfc5b33_0_156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Sparse table</a:t>
            </a:r>
            <a:endParaRPr/>
          </a:p>
        </p:txBody>
      </p:sp>
      <p:sp>
        <p:nvSpPr>
          <p:cNvPr id="282" name="Google Shape;282;g392bdfc5b33_0_156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 lnSpcReduction="10000"/>
          </a:bodyPr>
          <a:lstStyle/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Pr</a:t>
            </a:r>
            <a:r>
              <a:rPr lang="pt-BR"/>
              <a:t>é-calculo (K = piso de log de N base 2)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Sabendo as duas metades, você acha o intervalo de tamanho dobrado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Exemplo com soma: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3" name="Google Shape;283;g392bdfc5b33_0_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850" y="3971475"/>
            <a:ext cx="8750301" cy="2429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92bdfc5b33_0_163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Sparse table</a:t>
            </a:r>
            <a:endParaRPr/>
          </a:p>
        </p:txBody>
      </p:sp>
      <p:sp>
        <p:nvSpPr>
          <p:cNvPr id="289" name="Google Shape;289;g392bdfc5b33_0_163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Ap</a:t>
            </a:r>
            <a:r>
              <a:rPr lang="pt-BR"/>
              <a:t>ós o pré-calculo, pode se conseguir qualquer sub-intervalo como a junção de logn intervalos de tamanho potência de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0" name="Google Shape;290;g392bdfc5b33_0_1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7699" y="3542625"/>
            <a:ext cx="5788600" cy="297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92bdfc5b33_0_172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Sparse table</a:t>
            </a:r>
            <a:endParaRPr/>
          </a:p>
        </p:txBody>
      </p:sp>
      <p:sp>
        <p:nvSpPr>
          <p:cNvPr id="296" name="Google Shape;296;g392bdfc5b33_0_172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Normalmente </a:t>
            </a:r>
            <a:r>
              <a:rPr lang="pt-BR"/>
              <a:t>é esquecida pois estruturas como Segment Tree, Fenwick tree (BIT) conseguem fazer quase tudo que a sparse table e ainda ter suporte a uma estrutura dinâmica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Quase tudo :P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92bdfc5b33_0_177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Sparse table</a:t>
            </a:r>
            <a:endParaRPr/>
          </a:p>
        </p:txBody>
      </p:sp>
      <p:sp>
        <p:nvSpPr>
          <p:cNvPr id="302" name="Google Shape;302;g392bdfc5b33_0_177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Opera</a:t>
            </a:r>
            <a:r>
              <a:rPr lang="pt-BR"/>
              <a:t>ções como min, max e gcd podem ser feitas em O(1) ao invés de O(logN)! 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Basta pegar sub-intervalos maior que a metade e fazer a operação!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Busca binária fácil a partir de qualquer posição!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92bdfc5b33_0_182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Sparse table</a:t>
            </a:r>
            <a:endParaRPr/>
          </a:p>
        </p:txBody>
      </p:sp>
      <p:sp>
        <p:nvSpPr>
          <p:cNvPr id="308" name="Google Shape;308;g392bdfc5b33_0_182"/>
          <p:cNvSpPr txBox="1"/>
          <p:nvPr>
            <p:ph idx="1" type="body"/>
          </p:nvPr>
        </p:nvSpPr>
        <p:spPr>
          <a:xfrm>
            <a:off x="457200" y="1775201"/>
            <a:ext cx="8229600" cy="49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 lnSpcReduction="10000"/>
          </a:bodyPr>
          <a:lstStyle/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Problemas na prova: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CGCDSSQ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Precisa responder quantos sub-intervalos do vetor tem gcd igual a um certo número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Observação principal: Não tem tantos valores diferentes possíveis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Todos os sub-intervalos que começam no mesmo valor a[i] podem ter no máximo log(a[i]) valores diferentes de gcd 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Pode se usar busca binária na sparse table para descobrir quando o valor muda =&gt; O(n.(logn)ˆ2)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Obs: tem resposta mais simples atualizando conjunto de valores acumulados O(N.logN)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92bdfc5b33_0_187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Fenwick Tree (BIT)</a:t>
            </a:r>
            <a:endParaRPr/>
          </a:p>
        </p:txBody>
      </p:sp>
      <p:sp>
        <p:nvSpPr>
          <p:cNvPr id="314" name="Google Shape;314;g392bdfc5b33_0_187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 u="sng">
                <a:solidFill>
                  <a:schemeClr val="hlink"/>
                </a:solidFill>
                <a:hlinkClick r:id="rId3"/>
              </a:rPr>
              <a:t>CP Algorithms: Fenwick Tree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Update de posição: O(logN)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Range query: O(logN)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5" name="Google Shape;315;g392bdfc5b33_0_1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2063" y="3526025"/>
            <a:ext cx="3919872" cy="308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92bdfc5b33_0_200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Fenwick Tree (BIT)</a:t>
            </a:r>
            <a:endParaRPr/>
          </a:p>
        </p:txBody>
      </p:sp>
      <p:sp>
        <p:nvSpPr>
          <p:cNvPr id="321" name="Google Shape;321;g392bdfc5b33_0_200"/>
          <p:cNvSpPr txBox="1"/>
          <p:nvPr>
            <p:ph idx="1" type="body"/>
          </p:nvPr>
        </p:nvSpPr>
        <p:spPr>
          <a:xfrm>
            <a:off x="457188" y="176134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Aplica</a:t>
            </a:r>
            <a:r>
              <a:rPr lang="pt-BR"/>
              <a:t>ções: Contagem de inversões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Adiciona os números de um vetor ordenamente para calcular o número de inversões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Problema: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Dynamic inversion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Contagem de inversões com tempo também como váriavel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Divisão e conquista baseada no tempo!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O(N.(logN)ˆ2)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Leitura: </a:t>
            </a:r>
            <a:r>
              <a:rPr lang="pt-BR" u="sng">
                <a:solidFill>
                  <a:schemeClr val="hlink"/>
                </a:solidFill>
                <a:hlinkClick r:id="rId4"/>
              </a:rPr>
              <a:t>CDQ Divide and Conquer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Também possível com estruturas 2D: </a:t>
            </a:r>
            <a:r>
              <a:rPr lang="pt-BR" u="sng">
                <a:solidFill>
                  <a:schemeClr val="hlink"/>
                </a:solidFill>
                <a:hlinkClick r:id="rId5"/>
              </a:rPr>
              <a:t>USACO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92bdfc5b33_0_212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Fenwick Tree (BIT)</a:t>
            </a:r>
            <a:endParaRPr/>
          </a:p>
        </p:txBody>
      </p:sp>
      <p:sp>
        <p:nvSpPr>
          <p:cNvPr id="327" name="Google Shape;327;g392bdfc5b33_0_212"/>
          <p:cNvSpPr txBox="1"/>
          <p:nvPr>
            <p:ph idx="1" type="body"/>
          </p:nvPr>
        </p:nvSpPr>
        <p:spPr>
          <a:xfrm>
            <a:off x="457188" y="176134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 lnSpcReduction="10000"/>
          </a:bodyPr>
          <a:lstStyle/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Aplicações: Contagem de pares de intervalos um dentro do outro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Parecido com c</a:t>
            </a:r>
            <a:r>
              <a:rPr lang="pt-BR"/>
              <a:t>álculo de inversões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Problema: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Valera and queries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Contar quantos segmentos n</a:t>
            </a:r>
            <a:r>
              <a:rPr lang="pt-BR"/>
              <a:t>ão intersectam nenhum ponto =&gt; contar quantos segmentos estão entre os pontos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Útil para o problema L da última final nacional: </a:t>
            </a:r>
            <a:r>
              <a:rPr lang="pt-BR" u="sng">
                <a:solidFill>
                  <a:schemeClr val="hlink"/>
                </a:solidFill>
                <a:hlinkClick r:id="rId4"/>
              </a:rPr>
              <a:t>Lonely creatures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92bdfc5b33_0_228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Fenwick Tree (BIT)</a:t>
            </a:r>
            <a:endParaRPr/>
          </a:p>
        </p:txBody>
      </p:sp>
      <p:sp>
        <p:nvSpPr>
          <p:cNvPr id="333" name="Google Shape;333;g392bdfc5b33_0_228"/>
          <p:cNvSpPr txBox="1"/>
          <p:nvPr>
            <p:ph idx="1" type="body"/>
          </p:nvPr>
        </p:nvSpPr>
        <p:spPr>
          <a:xfrm>
            <a:off x="457188" y="176134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Problema: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SPOJ DQuery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Ordenar queries de intervalo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Manter na BIT somente p primeiro elemento de cada tipo a partir de uma certa posição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Dessa maneira a soma na BIT resulta no número de elementos diferentes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92bdfc5b33_0_193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Segment Tree</a:t>
            </a:r>
            <a:endParaRPr/>
          </a:p>
        </p:txBody>
      </p:sp>
      <p:sp>
        <p:nvSpPr>
          <p:cNvPr id="339" name="Google Shape;339;g392bdfc5b33_0_193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 u="sng">
                <a:solidFill>
                  <a:schemeClr val="hlink"/>
                </a:solidFill>
                <a:hlinkClick r:id="rId3"/>
              </a:rPr>
              <a:t>CP Algorithms: Segment Tree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0" name="Google Shape;340;g392bdfc5b33_0_1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81625" y="2633900"/>
            <a:ext cx="5380750" cy="396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92bdfc5b33_0_217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Segment Tree</a:t>
            </a:r>
            <a:endParaRPr/>
          </a:p>
        </p:txBody>
      </p:sp>
      <p:sp>
        <p:nvSpPr>
          <p:cNvPr id="346" name="Google Shape;346;g392bdfc5b33_0_217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Update de posi</a:t>
            </a:r>
            <a:r>
              <a:rPr lang="pt-BR"/>
              <a:t>ção: O(logN)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Update de range: O(logN) com lazy propagation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Range queries: O(logN)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Em geral mais estratégias possíveis de divide and conquer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92bdfc5b33_0_223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Segment Tree</a:t>
            </a:r>
            <a:endParaRPr/>
          </a:p>
        </p:txBody>
      </p:sp>
      <p:sp>
        <p:nvSpPr>
          <p:cNvPr id="352" name="Google Shape;352;g392bdfc5b33_0_223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Problemas: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SPOJ Posters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Problema clássico de lazy propagation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Também é possível fazer com uma lista de intervalos em um set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E parece que apesar complexidade </a:t>
            </a:r>
            <a:r>
              <a:rPr lang="pt-BR"/>
              <a:t>quadrática, lista ligada também parece passar com constante baixa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92bdfc5b33_0_233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Segment Tree</a:t>
            </a:r>
            <a:endParaRPr/>
          </a:p>
        </p:txBody>
      </p:sp>
      <p:sp>
        <p:nvSpPr>
          <p:cNvPr id="358" name="Google Shape;358;g392bdfc5b33_0_233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Problemas: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BRCKTS Spoj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Update pontual e query de range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Manter soma de elementos e tamb</a:t>
            </a:r>
            <a:r>
              <a:rPr lang="pt-BR"/>
              <a:t>ém valor de soma do menor prefixo</a:t>
            </a:r>
            <a:endParaRPr/>
          </a:p>
          <a:p>
            <a:pPr indent="-331469" lvl="1" marL="914400" rtl="0" algn="l">
              <a:spcBef>
                <a:spcPts val="0"/>
              </a:spcBef>
              <a:spcAft>
                <a:spcPts val="0"/>
              </a:spcAft>
              <a:buSzPts val="1620"/>
              <a:buChar char="▪"/>
            </a:pPr>
            <a:r>
              <a:rPr lang="pt-BR"/>
              <a:t>Parêntesis</a:t>
            </a:r>
            <a:r>
              <a:rPr lang="pt-BR"/>
              <a:t> válido quando soma total é zero e a menor soma de prefixo é maior ou igual a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92bdfc5b33_0_206"/>
          <p:cNvSpPr txBox="1"/>
          <p:nvPr>
            <p:ph type="title"/>
          </p:nvPr>
        </p:nvSpPr>
        <p:spPr>
          <a:xfrm>
            <a:off x="457200" y="155448"/>
            <a:ext cx="8229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4570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700"/>
              </a:buClr>
              <a:buSzPts val="4500"/>
              <a:buFont typeface="Corbel"/>
              <a:buNone/>
            </a:pPr>
            <a:r>
              <a:rPr lang="pt-BR"/>
              <a:t>Estruturas compostas</a:t>
            </a:r>
            <a:endParaRPr/>
          </a:p>
        </p:txBody>
      </p:sp>
      <p:sp>
        <p:nvSpPr>
          <p:cNvPr id="364" name="Google Shape;364;g392bdfc5b33_0_206"/>
          <p:cNvSpPr txBox="1"/>
          <p:nvPr>
            <p:ph idx="1" type="body"/>
          </p:nvPr>
        </p:nvSpPr>
        <p:spPr>
          <a:xfrm>
            <a:off x="457200" y="1775191"/>
            <a:ext cx="8229600" cy="4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5485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</a:t>
            </a:r>
            <a:r>
              <a:rPr lang="pt-BR"/>
              <a:t>éu é o limite :P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BIT 2D: BIT de BIT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Segment Tree de BIT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Segment Tree de vetor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◼"/>
            </a:pPr>
            <a:r>
              <a:rPr lang="pt-BR"/>
              <a:t>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ódulo">
  <a:themeElements>
    <a:clrScheme name="Módulo">
      <a:dk1>
        <a:srgbClr val="000000"/>
      </a:dk1>
      <a:lt1>
        <a:srgbClr val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ódulo">
  <a:themeElements>
    <a:clrScheme name="Módulo">
      <a:dk1>
        <a:srgbClr val="000000"/>
      </a:dk1>
      <a:lt1>
        <a:srgbClr val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2012-07-03T03:06:12Z</dcterms:created>
  <dc:creator>Gabaum</dc:creator>
</cp:coreProperties>
</file>