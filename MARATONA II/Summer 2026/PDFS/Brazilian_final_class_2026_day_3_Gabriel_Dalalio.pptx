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9144000"/>
  <p:notesSz cx="6858000" cy="9144000"/>
  <p:embeddedFontLst>
    <p:embeddedFont>
      <p:font typeface="Corbel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5" roundtripDataSignature="AMtx7miMs37iPNRRCNyiOqnagFY5OhGt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Corbel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Corbel-italic.fntdata"/><Relationship Id="rId10" Type="http://schemas.openxmlformats.org/officeDocument/2006/relationships/slide" Target="slides/slide4.xml"/><Relationship Id="rId32" Type="http://schemas.openxmlformats.org/officeDocument/2006/relationships/font" Target="fonts/Corbel-bold.fntdata"/><Relationship Id="rId13" Type="http://schemas.openxmlformats.org/officeDocument/2006/relationships/slide" Target="slides/slide7.xml"/><Relationship Id="rId35" Type="http://customschemas.google.com/relationships/presentationmetadata" Target="metadata"/><Relationship Id="rId12" Type="http://schemas.openxmlformats.org/officeDocument/2006/relationships/slide" Target="slides/slide6.xml"/><Relationship Id="rId34" Type="http://schemas.openxmlformats.org/officeDocument/2006/relationships/font" Target="fonts/Corbel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2cae758d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g392cae758df_0_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2cae758d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g392cae758df_0_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2da2dd6f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g392da2dd6fe_0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2da2dd6f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g392da2dd6fe_0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2da2dd6f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g392da2dd6fe_0_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2da2dd6f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g392da2dd6fe_0_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2da2dd6f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g392da2dd6fe_0_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2da2dd6f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g392da2dd6fe_0_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2da2dd6f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g392da2dd6fe_0_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2da2dd6f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g392da2dd6fe_0_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2da2dd6f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g392da2dd6fe_0_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2da2dd6fe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g392da2dd6fe_0_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2da2dd6fe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g392da2dd6fe_0_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92da2dd6fe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g392da2dd6fe_0_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92da2dd6fe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g392da2dd6fe_0_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92da2dd6fe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g392da2dd6fe_0_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92da2dd6fe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g392da2dd6fe_0_8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92da2dd6fe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g392da2dd6fe_0_9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92da2dd6fe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g392da2dd6fe_0_10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92da2dd6fe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g392da2dd6fe_0_10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92da2dd6fe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g392da2dd6fe_0_1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92da2dd6fe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g392da2dd6fe_0_1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showMasterSp="0" type="title">
  <p:cSld name="TITLE">
    <p:bg>
      <p:bgPr>
        <a:gradFill>
          <a:gsLst>
            <a:gs pos="0">
              <a:srgbClr val="BEC4D3"/>
            </a:gs>
            <a:gs pos="12000">
              <a:srgbClr val="BEC4D3"/>
            </a:gs>
            <a:gs pos="20000">
              <a:srgbClr val="BDC3D1"/>
            </a:gs>
            <a:gs pos="100000">
              <a:srgbClr val="34394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2"/>
          <p:cNvSpPr/>
          <p:nvPr/>
        </p:nvSpPr>
        <p:spPr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9" name="Google Shape;19;p22"/>
          <p:cNvSpPr txBox="1"/>
          <p:nvPr>
            <p:ph type="ctrTitle"/>
          </p:nvPr>
        </p:nvSpPr>
        <p:spPr>
          <a:xfrm>
            <a:off x="685800" y="3355848"/>
            <a:ext cx="8077200" cy="1673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4570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700"/>
              <a:buFont typeface="Corbel"/>
              <a:buNone/>
              <a:defRPr b="1" sz="4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" type="subTitle"/>
          </p:nvPr>
        </p:nvSpPr>
        <p:spPr>
          <a:xfrm>
            <a:off x="685800" y="1828800"/>
            <a:ext cx="807720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18850" spcFirstLastPara="1" rIns="4570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52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" name="Google Shape;21;p22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1" type="ftr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" name="Google Shape;24;p22"/>
          <p:cNvSpPr/>
          <p:nvPr/>
        </p:nvSpPr>
        <p:spPr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1750" rotWithShape="0" algn="tl" dir="5400000" dist="1016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" type="body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  <a:defRPr/>
            </a:lvl1pPr>
            <a:lvl2pPr indent="-331469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3"/>
          <p:cNvSpPr txBox="1"/>
          <p:nvPr>
            <p:ph idx="11" type="ftr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showMasterSp="0" type="title">
  <p:cSld name="TITLE">
    <p:bg>
      <p:bgPr>
        <a:gradFill>
          <a:gsLst>
            <a:gs pos="0">
              <a:srgbClr val="BEC4D3"/>
            </a:gs>
            <a:gs pos="12000">
              <a:srgbClr val="BEC4D3"/>
            </a:gs>
            <a:gs pos="20000">
              <a:srgbClr val="BDC3D1"/>
            </a:gs>
            <a:gs pos="100000">
              <a:srgbClr val="34394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1"/>
          <p:cNvSpPr/>
          <p:nvPr/>
        </p:nvSpPr>
        <p:spPr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1" name="Google Shape;41;p21"/>
          <p:cNvSpPr txBox="1"/>
          <p:nvPr>
            <p:ph type="ctrTitle"/>
          </p:nvPr>
        </p:nvSpPr>
        <p:spPr>
          <a:xfrm>
            <a:off x="685800" y="3355848"/>
            <a:ext cx="8077200" cy="1673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4570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700"/>
              <a:buFont typeface="Corbel"/>
              <a:buNone/>
              <a:defRPr b="1" sz="4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subTitle"/>
          </p:nvPr>
        </p:nvSpPr>
        <p:spPr>
          <a:xfrm>
            <a:off x="685800" y="1828800"/>
            <a:ext cx="807720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18850" spcFirstLastPara="1" rIns="4570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52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21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1" type="ftr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1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6" name="Google Shape;46;p21"/>
          <p:cNvSpPr/>
          <p:nvPr/>
        </p:nvSpPr>
        <p:spPr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1750" rotWithShape="0" algn="tl" dir="5400000" dist="1016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showMasterSp="0" type="secHead">
  <p:cSld name="SECTION_HEADER">
    <p:bg>
      <p:bgPr>
        <a:gradFill>
          <a:gsLst>
            <a:gs pos="0">
              <a:srgbClr val="BEC4D3"/>
            </a:gs>
            <a:gs pos="12000">
              <a:srgbClr val="BEC4D3"/>
            </a:gs>
            <a:gs pos="20000">
              <a:srgbClr val="BDC3D1"/>
            </a:gs>
            <a:gs pos="100000">
              <a:srgbClr val="34394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4"/>
          <p:cNvSpPr/>
          <p:nvPr/>
        </p:nvSpPr>
        <p:spPr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9" name="Google Shape;49;p24"/>
          <p:cNvSpPr/>
          <p:nvPr/>
        </p:nvSpPr>
        <p:spPr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1750" rotWithShape="0" algn="tl" dir="5400000" dist="1016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0" name="Google Shape;50;p24"/>
          <p:cNvSpPr txBox="1"/>
          <p:nvPr>
            <p:ph type="title"/>
          </p:nvPr>
        </p:nvSpPr>
        <p:spPr>
          <a:xfrm>
            <a:off x="749808" y="118872"/>
            <a:ext cx="8013192" cy="163677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700"/>
              <a:buFont typeface="Corbel"/>
              <a:buNone/>
              <a:defRPr b="1" sz="47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" type="body"/>
          </p:nvPr>
        </p:nvSpPr>
        <p:spPr>
          <a:xfrm>
            <a:off x="740664" y="1828800"/>
            <a:ext cx="802233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63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24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1" type="ftr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4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5"/>
          <p:cNvSpPr txBox="1"/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" type="body"/>
          </p:nvPr>
        </p:nvSpPr>
        <p:spPr>
          <a:xfrm>
            <a:off x="457200" y="1773936"/>
            <a:ext cx="4038600" cy="4623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rmAutofit/>
          </a:bodyPr>
          <a:lstStyle>
            <a:lvl1pPr indent="-37084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Char char="◼"/>
              <a:defRPr sz="2800"/>
            </a:lvl1pPr>
            <a:lvl2pPr indent="-36576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60"/>
              <a:buChar char="▪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9pPr>
          </a:lstStyle>
          <a:p/>
        </p:txBody>
      </p:sp>
      <p:sp>
        <p:nvSpPr>
          <p:cNvPr id="58" name="Google Shape;58;p25"/>
          <p:cNvSpPr txBox="1"/>
          <p:nvPr>
            <p:ph idx="2" type="body"/>
          </p:nvPr>
        </p:nvSpPr>
        <p:spPr>
          <a:xfrm>
            <a:off x="4648200" y="1773936"/>
            <a:ext cx="4038600" cy="4623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>
            <a:lvl1pPr indent="-37084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Char char="◼"/>
              <a:defRPr sz="2800"/>
            </a:lvl1pPr>
            <a:lvl2pPr indent="-36576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60"/>
              <a:buChar char="▪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9pPr>
          </a:lstStyle>
          <a:p/>
        </p:txBody>
      </p:sp>
      <p:sp>
        <p:nvSpPr>
          <p:cNvPr id="59" name="Google Shape;59;p25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1" type="ftr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5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6"/>
          <p:cNvSpPr txBox="1"/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457200" y="1698987"/>
            <a:ext cx="4040188" cy="7153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46300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40"/>
              <a:buNone/>
              <a:defRPr b="1" sz="2300" cap="none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p26"/>
          <p:cNvSpPr txBox="1"/>
          <p:nvPr>
            <p:ph idx="2" type="body"/>
          </p:nvPr>
        </p:nvSpPr>
        <p:spPr>
          <a:xfrm>
            <a:off x="457200" y="2449512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>
            <a:lvl1pPr indent="-35052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◼"/>
              <a:defRPr sz="24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?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9pPr>
          </a:lstStyle>
          <a:p/>
        </p:txBody>
      </p:sp>
      <p:sp>
        <p:nvSpPr>
          <p:cNvPr id="66" name="Google Shape;66;p26"/>
          <p:cNvSpPr txBox="1"/>
          <p:nvPr>
            <p:ph idx="3" type="body"/>
          </p:nvPr>
        </p:nvSpPr>
        <p:spPr>
          <a:xfrm>
            <a:off x="4645025" y="1698987"/>
            <a:ext cx="4041775" cy="7153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46300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40"/>
              <a:buNone/>
              <a:defRPr b="1" sz="2300" cap="none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7" name="Google Shape;67;p26"/>
          <p:cNvSpPr txBox="1"/>
          <p:nvPr>
            <p:ph idx="4" type="body"/>
          </p:nvPr>
        </p:nvSpPr>
        <p:spPr>
          <a:xfrm>
            <a:off x="4645025" y="2449512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>
            <a:lvl1pPr indent="-35052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◼"/>
              <a:defRPr sz="24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?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9pPr>
          </a:lstStyle>
          <a:p/>
        </p:txBody>
      </p:sp>
      <p:sp>
        <p:nvSpPr>
          <p:cNvPr id="68" name="Google Shape;68;p26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6"/>
          <p:cNvSpPr txBox="1"/>
          <p:nvPr>
            <p:ph idx="11" type="ftr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7"/>
          <p:cNvSpPr txBox="1"/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11" type="ftr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showMasterSp="0" type="blank">
  <p:cSld name="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9"/>
          <p:cNvSpPr txBox="1"/>
          <p:nvPr>
            <p:ph type="title"/>
          </p:nvPr>
        </p:nvSpPr>
        <p:spPr>
          <a:xfrm>
            <a:off x="167838" y="152400"/>
            <a:ext cx="2523744" cy="97840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7315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2000"/>
              <a:buFont typeface="Corbel"/>
              <a:buNone/>
              <a:defRPr b="0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" type="body"/>
          </p:nvPr>
        </p:nvSpPr>
        <p:spPr>
          <a:xfrm>
            <a:off x="3019377" y="1743133"/>
            <a:ext cx="5920641" cy="4558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>
            <a:lvl1pPr indent="-39116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◼"/>
              <a:defRPr sz="3200"/>
            </a:lvl1pPr>
            <a:lvl2pPr indent="-388619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520"/>
              <a:buChar char="▪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?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9pPr>
          </a:lstStyle>
          <a:p/>
        </p:txBody>
      </p:sp>
      <p:sp>
        <p:nvSpPr>
          <p:cNvPr id="83" name="Google Shape;83;p29"/>
          <p:cNvSpPr txBox="1"/>
          <p:nvPr>
            <p:ph idx="2" type="body"/>
          </p:nvPr>
        </p:nvSpPr>
        <p:spPr>
          <a:xfrm>
            <a:off x="167838" y="1730018"/>
            <a:ext cx="246888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08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4" name="Google Shape;84;p29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9"/>
          <p:cNvSpPr txBox="1"/>
          <p:nvPr>
            <p:ph idx="11" type="ftr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9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7" name="Google Shape;87;p29"/>
          <p:cNvSpPr/>
          <p:nvPr/>
        </p:nvSpPr>
        <p:spPr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8" name="Google Shape;88;p29"/>
          <p:cNvSpPr/>
          <p:nvPr/>
        </p:nvSpPr>
        <p:spPr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0"/>
          <p:cNvSpPr txBox="1"/>
          <p:nvPr>
            <p:ph type="title"/>
          </p:nvPr>
        </p:nvSpPr>
        <p:spPr>
          <a:xfrm>
            <a:off x="164592" y="155448"/>
            <a:ext cx="2525150" cy="97840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7315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2000"/>
              <a:buFont typeface="Corbel"/>
              <a:buNone/>
              <a:defRPr b="0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0"/>
          <p:cNvSpPr/>
          <p:nvPr>
            <p:ph idx="2" type="pic"/>
          </p:nvPr>
        </p:nvSpPr>
        <p:spPr>
          <a:xfrm>
            <a:off x="2903805" y="1484808"/>
            <a:ext cx="6247397" cy="5373192"/>
          </a:xfrm>
          <a:prstGeom prst="rect">
            <a:avLst/>
          </a:prstGeom>
          <a:solidFill>
            <a:srgbClr val="BABABB"/>
          </a:solidFill>
          <a:ln>
            <a:noFill/>
          </a:ln>
        </p:spPr>
      </p:sp>
      <p:sp>
        <p:nvSpPr>
          <p:cNvPr id="92" name="Google Shape;92;p30"/>
          <p:cNvSpPr txBox="1"/>
          <p:nvPr>
            <p:ph idx="1" type="body"/>
          </p:nvPr>
        </p:nvSpPr>
        <p:spPr>
          <a:xfrm>
            <a:off x="164592" y="1728216"/>
            <a:ext cx="246888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08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93" name="Google Shape;93;p30"/>
          <p:cNvSpPr txBox="1"/>
          <p:nvPr>
            <p:ph idx="10" type="dt"/>
          </p:nvPr>
        </p:nvSpPr>
        <p:spPr>
          <a:xfrm>
            <a:off x="164592" y="1170432"/>
            <a:ext cx="25237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5" name="Google Shape;95;p3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6" name="Google Shape;96;p30"/>
          <p:cNvSpPr txBox="1"/>
          <p:nvPr>
            <p:ph idx="11" type="ftr"/>
          </p:nvPr>
        </p:nvSpPr>
        <p:spPr>
          <a:xfrm>
            <a:off x="3035808" y="1170432"/>
            <a:ext cx="51937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BABAB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0"/>
          <p:cNvSpPr txBox="1"/>
          <p:nvPr>
            <p:ph idx="12" type="sldNum"/>
          </p:nvPr>
        </p:nvSpPr>
        <p:spPr>
          <a:xfrm>
            <a:off x="8339328" y="1170432"/>
            <a:ext cx="7338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1"/>
          <p:cNvSpPr txBox="1"/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1"/>
          <p:cNvSpPr txBox="1"/>
          <p:nvPr>
            <p:ph idx="1" type="body"/>
          </p:nvPr>
        </p:nvSpPr>
        <p:spPr>
          <a:xfrm rot="5400000">
            <a:off x="2259196" y="-26804"/>
            <a:ext cx="4625609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  <a:defRPr/>
            </a:lvl1pPr>
            <a:lvl2pPr indent="-331469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01" name="Google Shape;101;p31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1"/>
          <p:cNvSpPr txBox="1"/>
          <p:nvPr>
            <p:ph idx="11" type="ftr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1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showMasterSp="0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2"/>
          <p:cNvSpPr/>
          <p:nvPr/>
        </p:nvSpPr>
        <p:spPr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1750" rotWithShape="0" algn="tl" dir="10800000" dist="1016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6" name="Google Shape;106;p32"/>
          <p:cNvSpPr/>
          <p:nvPr/>
        </p:nvSpPr>
        <p:spPr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7" name="Google Shape;107;p32"/>
          <p:cNvSpPr txBox="1"/>
          <p:nvPr>
            <p:ph type="title"/>
          </p:nvPr>
        </p:nvSpPr>
        <p:spPr>
          <a:xfrm rot="5400000">
            <a:off x="4808538" y="2247903"/>
            <a:ext cx="5851525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32"/>
          <p:cNvSpPr txBox="1"/>
          <p:nvPr>
            <p:ph idx="1" type="body"/>
          </p:nvPr>
        </p:nvSpPr>
        <p:spPr>
          <a:xfrm rot="5400000">
            <a:off x="541338" y="22066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  <a:defRPr/>
            </a:lvl1pPr>
            <a:lvl2pPr indent="-331469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09" name="Google Shape;109;p32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2"/>
          <p:cNvSpPr txBox="1"/>
          <p:nvPr>
            <p:ph idx="11" type="ftr"/>
          </p:nvPr>
        </p:nvSpPr>
        <p:spPr>
          <a:xfrm>
            <a:off x="2640597" y="6377459"/>
            <a:ext cx="38364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2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/>
          <p:nvPr/>
        </p:nvSpPr>
        <p:spPr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1750" rotWithShape="0" algn="tl" dir="5400000" dist="1016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" name="Google Shape;11;p20"/>
          <p:cNvSpPr/>
          <p:nvPr/>
        </p:nvSpPr>
        <p:spPr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" name="Google Shape;12;p20"/>
          <p:cNvSpPr txBox="1"/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  <a:defRPr b="1" i="0" sz="4500" u="none" cap="none" strike="noStrik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0"/>
          <p:cNvSpPr txBox="1"/>
          <p:nvPr>
            <p:ph idx="1" type="body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>
            <a:lvl1pPr indent="-39116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◼"/>
              <a:defRPr b="0" i="0" sz="3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88619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520"/>
              <a:buFont typeface="Noto Sans Symbols"/>
              <a:buChar char="▪"/>
              <a:defRPr b="0" i="0" sz="2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▪"/>
              <a:defRPr b="0" i="0" sz="2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Char char="▪"/>
              <a:defRPr b="0" i="0" sz="2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🢝"/>
              <a:defRPr b="0" i="0" sz="2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4" name="Google Shape;14;p20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5" name="Google Shape;15;p20"/>
          <p:cNvSpPr txBox="1"/>
          <p:nvPr>
            <p:ph idx="11" type="ftr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/>
          <p:nvPr/>
        </p:nvSpPr>
        <p:spPr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1750" rotWithShape="0" algn="tl" dir="5400000" dist="1016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7" name="Google Shape;27;p19"/>
          <p:cNvSpPr/>
          <p:nvPr/>
        </p:nvSpPr>
        <p:spPr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8" name="Google Shape;28;p19"/>
          <p:cNvSpPr txBox="1"/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  <a:defRPr b="1" i="0" sz="4500" u="none" cap="none" strike="noStrik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>
            <a:lvl1pPr indent="-39116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◼"/>
              <a:defRPr b="0" i="0" sz="3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88619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52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▪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Char char="▪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🢝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moj.uclv.edu.cu/problem/removalgame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ses.fi/problemset/task/2208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ses.fi/problemset/task/2208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lightoj.com/problem/incredible-chess" TargetMode="External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lightoj.com/problem/incredible-chess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cses.fi/problemset/task/1099" TargetMode="External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cses.fi/problemset/task/1099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hackerrank.com/challenges/move-the-coins/problem" TargetMode="External"/><Relationship Id="rId4" Type="http://schemas.openxmlformats.org/officeDocument/2006/relationships/hyperlink" Target="https://codeforces.com/blog/entry/44651" TargetMode="External"/><Relationship Id="rId5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cp-algorithms.com/game_theory/sprague-grundy-nim.html" TargetMode="External"/><Relationship Id="rId4" Type="http://schemas.openxmlformats.org/officeDocument/2006/relationships/hyperlink" Target="https://codeforces.com/gym/101908/problem/B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www.obm.org.br/content/uploads/2017/02/Davi-Lopes-Jogos-C%C3%AA-Manja-ou-Nim.pdf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lightoj.com/problem/partitioning-game" TargetMode="External"/><Relationship Id="rId4" Type="http://schemas.openxmlformats.org/officeDocument/2006/relationships/hyperlink" Target="https://codeforces.com/problemset/problem/851/E" TargetMode="External"/><Relationship Id="rId5" Type="http://schemas.openxmlformats.org/officeDocument/2006/relationships/hyperlink" Target="https://en.wikipedia.org/wiki/Hackenbush" TargetMode="External"/><Relationship Id="rId6" Type="http://schemas.openxmlformats.org/officeDocument/2006/relationships/hyperlink" Target="https://www.spoj.com/problems/PT07A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"/>
          <p:cNvSpPr txBox="1"/>
          <p:nvPr>
            <p:ph type="ctrTitle"/>
          </p:nvPr>
        </p:nvSpPr>
        <p:spPr>
          <a:xfrm>
            <a:off x="685800" y="3355848"/>
            <a:ext cx="8077200" cy="1673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4570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700"/>
              <a:buFont typeface="Corbel"/>
              <a:buNone/>
            </a:pPr>
            <a:r>
              <a:rPr lang="pt-BR"/>
              <a:t>Dia 3 - Teoria dos jogos</a:t>
            </a:r>
            <a:endParaRPr/>
          </a:p>
        </p:txBody>
      </p:sp>
      <p:sp>
        <p:nvSpPr>
          <p:cNvPr id="117" name="Google Shape;117;p1"/>
          <p:cNvSpPr txBox="1"/>
          <p:nvPr>
            <p:ph idx="1" type="subTitle"/>
          </p:nvPr>
        </p:nvSpPr>
        <p:spPr>
          <a:xfrm>
            <a:off x="685800" y="1828800"/>
            <a:ext cx="807720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18850" spcFirstLastPara="1" rIns="4570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Gabriel Dalalio</a:t>
            </a:r>
            <a:endParaRPr/>
          </a:p>
        </p:txBody>
      </p:sp>
      <p:sp>
        <p:nvSpPr>
          <p:cNvPr id="118" name="Google Shape;118;p1"/>
          <p:cNvSpPr/>
          <p:nvPr/>
        </p:nvSpPr>
        <p:spPr>
          <a:xfrm>
            <a:off x="0" y="50"/>
            <a:ext cx="9144000" cy="2102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119" name="Google Shape;119;p1" title="BrazilianICPCSummerSchoo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9644"/>
            <a:ext cx="9144000" cy="2043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Tópicos</a:t>
            </a:r>
            <a:endParaRPr/>
          </a:p>
        </p:txBody>
      </p:sp>
      <p:sp>
        <p:nvSpPr>
          <p:cNvPr id="125" name="Google Shape;125;p4"/>
          <p:cNvSpPr txBox="1"/>
          <p:nvPr>
            <p:ph idx="1" type="body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PD Minimax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Jogos Imparciais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NIM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Sprague-Grundy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2cae758df_0_40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PD Minimax</a:t>
            </a:r>
            <a:endParaRPr/>
          </a:p>
        </p:txBody>
      </p:sp>
      <p:sp>
        <p:nvSpPr>
          <p:cNvPr id="131" name="Google Shape;131;g392cae758df_0_40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PD </a:t>
            </a:r>
            <a:r>
              <a:rPr lang="pt-BR"/>
              <a:t>específica para jogos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O estado do jogo vira um estado da PD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A pontuação ótima de um jogador em um certo estado é obtida com a jogada que minimiza a pontuação do próximo jogador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2cae758df_0_45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PD Minimax</a:t>
            </a:r>
            <a:endParaRPr/>
          </a:p>
        </p:txBody>
      </p:sp>
      <p:sp>
        <p:nvSpPr>
          <p:cNvPr id="137" name="Google Shape;137;g392cae758df_0_45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Exemplo: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Removal game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O jogo é jogado com um vetor, 2 jogadores jogam alternadamente removendo o primeiro ou o último elemento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Qual a maior soma que o primeiro jogador consegue?</a:t>
            </a:r>
            <a:endParaRPr/>
          </a:p>
        </p:txBody>
      </p:sp>
      <p:sp>
        <p:nvSpPr>
          <p:cNvPr id="138" name="Google Shape;138;g392cae758df_0_45"/>
          <p:cNvSpPr txBox="1"/>
          <p:nvPr/>
        </p:nvSpPr>
        <p:spPr>
          <a:xfrm>
            <a:off x="1011450" y="4932200"/>
            <a:ext cx="71211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7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{4, 5, 1, 3} =&gt; melhor soma 8</a:t>
            </a:r>
            <a:endParaRPr sz="47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2da2dd6fe_0_1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Jogos imparciais</a:t>
            </a:r>
            <a:endParaRPr/>
          </a:p>
        </p:txBody>
      </p:sp>
      <p:sp>
        <p:nvSpPr>
          <p:cNvPr id="144" name="Google Shape;144;g392da2dd6fe_0_1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Vamos falar de jogos que: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O jogo possui dois jogadores apenas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O conjunto de posições disponível no jogo é finito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O jogo é imparcial, ou seja, o conjunto de movimentos possíveis só depende da posição em si, e não dos jogadores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Os jogadores jogam alternadamente em turnos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Quem não puder mais jogar perde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O jogo eventualmente termina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2da2dd6fe_0_6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Jogos imparciais</a:t>
            </a:r>
            <a:endParaRPr/>
          </a:p>
        </p:txBody>
      </p:sp>
      <p:sp>
        <p:nvSpPr>
          <p:cNvPr id="150" name="Google Shape;150;g392da2dd6fe_0_6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Caso especial de minimax (posi</a:t>
            </a:r>
            <a:r>
              <a:rPr lang="pt-BR"/>
              <a:t>ção perdedora vale zero, ganhadora vale 1)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Em alguns casos é possível descobrir a condição vencedora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Nesse tipo de jogo, é muito comum que a estratégia vencedora se baseie em copiar o movimento do oponente ou seguir a estratégia do nim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2da2dd6fe_0_11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Jogos imparciais</a:t>
            </a:r>
            <a:endParaRPr/>
          </a:p>
        </p:txBody>
      </p:sp>
      <p:sp>
        <p:nvSpPr>
          <p:cNvPr id="156" name="Google Shape;156;g392da2dd6fe_0_11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A condi</a:t>
            </a:r>
            <a:r>
              <a:rPr lang="pt-BR"/>
              <a:t>ção vencedora de um jogo satisfaz o seguinte: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Se a condição vencedora é válida para um estado do jogo, então esse estado tem pelo menos uma jogada que leva a um estado onde a condição não é </a:t>
            </a:r>
            <a:r>
              <a:rPr lang="pt-BR"/>
              <a:t>válida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Se a condição vencedora não é válida para um estado do jogo, então todas as jogadas desse estado levam a estado do jogo em que a condição é válida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2da2dd6fe_0_21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Jogos imparciais</a:t>
            </a:r>
            <a:endParaRPr/>
          </a:p>
        </p:txBody>
      </p:sp>
      <p:sp>
        <p:nvSpPr>
          <p:cNvPr id="162" name="Google Shape;162;g392da2dd6fe_0_21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Exemplo: pilha que pode remover até k elementos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Uma pilha tem inicialmente n pedras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Cada jogador pode tirar de 1 a k pedras da pilha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Perde quem não puder jogar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2da2dd6fe_0_16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Jogos imparciais</a:t>
            </a:r>
            <a:endParaRPr/>
          </a:p>
        </p:txBody>
      </p:sp>
      <p:sp>
        <p:nvSpPr>
          <p:cNvPr id="168" name="Google Shape;168;g392da2dd6fe_0_16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Exemplo: pilha que pode remover at</a:t>
            </a:r>
            <a:r>
              <a:rPr lang="pt-BR"/>
              <a:t>é k elementos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Uma pilha tem inicialmente n pedras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Cada jogador pode tirar de 1 a k pedras da pilha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Perde quem não puder jogar</a:t>
            </a:r>
            <a:endParaRPr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Condição vencedora: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n%(k+1) != 0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2da2dd6fe_0_26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Jogos imparciais</a:t>
            </a:r>
            <a:endParaRPr/>
          </a:p>
        </p:txBody>
      </p:sp>
      <p:sp>
        <p:nvSpPr>
          <p:cNvPr id="174" name="Google Shape;174;g392da2dd6fe_0_26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Exemplo: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Another game CSES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V</a:t>
            </a:r>
            <a:r>
              <a:rPr lang="pt-BR"/>
              <a:t>árias pilhas de moedas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A cada turno, escolhe algumas pilhas e remove 1 moeda de cada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Perde quem não puder jogar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2da2dd6fe_0_31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Jogos imparciais</a:t>
            </a:r>
            <a:endParaRPr/>
          </a:p>
        </p:txBody>
      </p:sp>
      <p:sp>
        <p:nvSpPr>
          <p:cNvPr id="180" name="Google Shape;180;g392da2dd6fe_0_31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Exemplo: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Another game CSES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Várias pilhas de moedas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A cada turno, escolhe algumas pilhas e remove 1 moeda de cada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Perde quem não puder jogar</a:t>
            </a:r>
            <a:endParaRPr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Condi</a:t>
            </a:r>
            <a:r>
              <a:rPr lang="pt-BR"/>
              <a:t>ção vencedora: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Ter pelo menos um número ímpar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2da2dd6fe_0_36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NIM</a:t>
            </a:r>
            <a:endParaRPr/>
          </a:p>
        </p:txBody>
      </p:sp>
      <p:sp>
        <p:nvSpPr>
          <p:cNvPr id="186" name="Google Shape;186;g392da2dd6fe_0_36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V</a:t>
            </a:r>
            <a:r>
              <a:rPr lang="pt-BR"/>
              <a:t>árias pilhas de moedas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Em cada jogada escolhe-se uma pilha e remove-se pelo menos uma moeda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Perde quem não conseguir jogar</a:t>
            </a:r>
            <a:endParaRPr/>
          </a:p>
        </p:txBody>
      </p:sp>
      <p:pic>
        <p:nvPicPr>
          <p:cNvPr id="187" name="Google Shape;187;g392da2dd6fe_0_36"/>
          <p:cNvPicPr preferRelativeResize="0"/>
          <p:nvPr/>
        </p:nvPicPr>
        <p:blipFill rotWithShape="1">
          <a:blip r:embed="rId3">
            <a:alphaModFix/>
          </a:blip>
          <a:srcRect b="18957" l="15964" r="12764" t="20689"/>
          <a:stretch/>
        </p:blipFill>
        <p:spPr>
          <a:xfrm>
            <a:off x="2663538" y="4096750"/>
            <a:ext cx="3816925" cy="216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92da2dd6fe_0_42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NIM</a:t>
            </a:r>
            <a:endParaRPr/>
          </a:p>
        </p:txBody>
      </p:sp>
      <p:sp>
        <p:nvSpPr>
          <p:cNvPr id="193" name="Google Shape;193;g392da2dd6fe_0_42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Condi</a:t>
            </a:r>
            <a:r>
              <a:rPr lang="pt-BR"/>
              <a:t>ção vencedora: XOR != zero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Prova: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Quando o XOR é zero, qualquer jogada resulta em XOR diferente de zero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Quando o XOR não é zero, é possível pegar a pilha que tenha o mesmo maior bit do valor do XOR e diminuir a pilha de maneira que o XOR resulta em zero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92da2dd6fe_0_48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NIM</a:t>
            </a:r>
            <a:endParaRPr/>
          </a:p>
        </p:txBody>
      </p:sp>
      <p:sp>
        <p:nvSpPr>
          <p:cNvPr id="199" name="Google Shape;199;g392da2dd6fe_0_48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V</a:t>
            </a:r>
            <a:r>
              <a:rPr lang="pt-BR"/>
              <a:t>ários jogos são reduzidos ao NIM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Exemplo: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Incredible chess</a:t>
            </a:r>
            <a:endParaRPr/>
          </a:p>
        </p:txBody>
      </p:sp>
      <p:pic>
        <p:nvPicPr>
          <p:cNvPr id="200" name="Google Shape;200;g392da2dd6fe_0_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4375" y="3214250"/>
            <a:ext cx="3295250" cy="329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92da2dd6fe_0_54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NIM</a:t>
            </a:r>
            <a:endParaRPr/>
          </a:p>
        </p:txBody>
      </p:sp>
      <p:sp>
        <p:nvSpPr>
          <p:cNvPr id="206" name="Google Shape;206;g392da2dd6fe_0_54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Vários jogos são reduzidos ao NIM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Exemplo: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Incredible chess</a:t>
            </a:r>
            <a:endParaRPr/>
          </a:p>
        </p:txBody>
      </p:sp>
      <p:pic>
        <p:nvPicPr>
          <p:cNvPr id="207" name="Google Shape;207;g392da2dd6fe_0_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3255825"/>
            <a:ext cx="3295250" cy="32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g392da2dd6fe_0_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2725" y="3255825"/>
            <a:ext cx="4073249" cy="2695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392da2dd6fe_0_54"/>
          <p:cNvSpPr txBox="1"/>
          <p:nvPr/>
        </p:nvSpPr>
        <p:spPr>
          <a:xfrm>
            <a:off x="5472500" y="6042350"/>
            <a:ext cx="419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SABOR NIM</a:t>
            </a:r>
            <a:endParaRPr sz="3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92da2dd6fe_0_62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NIM</a:t>
            </a:r>
            <a:endParaRPr/>
          </a:p>
        </p:txBody>
      </p:sp>
      <p:sp>
        <p:nvSpPr>
          <p:cNvPr id="215" name="Google Shape;215;g392da2dd6fe_0_62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Exemplo: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Stair game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Cada jogador escolhe um degrau e desce algumas pedras para descer um degrau</a:t>
            </a:r>
            <a:endParaRPr/>
          </a:p>
        </p:txBody>
      </p:sp>
      <p:pic>
        <p:nvPicPr>
          <p:cNvPr id="216" name="Google Shape;216;g392da2dd6fe_0_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87198" y="3484425"/>
            <a:ext cx="2969600" cy="311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92da2dd6fe_0_69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NIM</a:t>
            </a:r>
            <a:endParaRPr/>
          </a:p>
        </p:txBody>
      </p:sp>
      <p:sp>
        <p:nvSpPr>
          <p:cNvPr id="222" name="Google Shape;222;g392da2dd6fe_0_69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Exemplo: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Stair game</a:t>
            </a:r>
            <a:endParaRPr/>
          </a:p>
        </p:txBody>
      </p:sp>
      <p:pic>
        <p:nvPicPr>
          <p:cNvPr id="223" name="Google Shape;223;g392da2dd6fe_0_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1898" y="3097950"/>
            <a:ext cx="2969600" cy="311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g392da2dd6fe_0_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67750" y="2987100"/>
            <a:ext cx="3061850" cy="36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g392da2dd6fe_0_69"/>
          <p:cNvSpPr/>
          <p:nvPr/>
        </p:nvSpPr>
        <p:spPr>
          <a:xfrm>
            <a:off x="4170225" y="4419600"/>
            <a:ext cx="775800" cy="567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92da2dd6fe_0_77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NIM</a:t>
            </a:r>
            <a:endParaRPr/>
          </a:p>
        </p:txBody>
      </p:sp>
      <p:sp>
        <p:nvSpPr>
          <p:cNvPr id="231" name="Google Shape;231;g392da2dd6fe_0_77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Exemplo: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Move the coins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Cada jogador escolhe um v</a:t>
            </a:r>
            <a:r>
              <a:rPr lang="pt-BR"/>
              <a:t>értice e passa moedas para cima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Leitura: </a:t>
            </a:r>
            <a:r>
              <a:rPr lang="pt-BR" u="sng">
                <a:solidFill>
                  <a:schemeClr val="hlink"/>
                </a:solidFill>
                <a:hlinkClick r:id="rId4"/>
              </a:rPr>
              <a:t>Editorial</a:t>
            </a:r>
            <a:endParaRPr/>
          </a:p>
        </p:txBody>
      </p:sp>
      <p:pic>
        <p:nvPicPr>
          <p:cNvPr id="232" name="Google Shape;232;g392da2dd6fe_0_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80724" y="3858650"/>
            <a:ext cx="2382550" cy="28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92da2dd6fe_0_84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Sprague-Grundy</a:t>
            </a:r>
            <a:endParaRPr/>
          </a:p>
        </p:txBody>
      </p:sp>
      <p:sp>
        <p:nvSpPr>
          <p:cNvPr id="238" name="Google Shape;238;g392da2dd6fe_0_84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 u="sng">
                <a:solidFill>
                  <a:schemeClr val="hlink"/>
                </a:solidFill>
                <a:hlinkClick r:id="rId3"/>
              </a:rPr>
              <a:t>Sprague-Grundy CP Algorithms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Teorema: Todo jogo dentro das condi</a:t>
            </a:r>
            <a:r>
              <a:rPr lang="pt-BR"/>
              <a:t>ções já citadas são equivalentes a uma pilha de Nim!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Vamos aprender a calcular o nimber para qualquer jogo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Já caiu na sub-regional da maratona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 u="sng">
                <a:solidFill>
                  <a:schemeClr val="hlink"/>
                </a:solidFill>
                <a:hlinkClick r:id="rId4"/>
              </a:rPr>
              <a:t>Link do problema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92da2dd6fe_0_96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Sprague-Grundy</a:t>
            </a:r>
            <a:endParaRPr/>
          </a:p>
        </p:txBody>
      </p:sp>
      <p:sp>
        <p:nvSpPr>
          <p:cNvPr id="244" name="Google Shape;244;g392da2dd6fe_0_96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MEX({x1, x2, x3, x4…}) = menor inteiro n</a:t>
            </a:r>
            <a:r>
              <a:rPr lang="pt-BR"/>
              <a:t>ão negativo que não está no conjunto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MEX({1, 2, 3}) = 0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MEX({0, 1, 2, 4}) = 3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MEX({0, 1, 3, 100}) = 2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92da2dd6fe_0_101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Sprague-Grundy</a:t>
            </a:r>
            <a:endParaRPr/>
          </a:p>
        </p:txBody>
      </p:sp>
      <p:sp>
        <p:nvSpPr>
          <p:cNvPr id="250" name="Google Shape;250;g392da2dd6fe_0_101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Um estado S de um jogo tem jogadas para os estados S1, S2, S3… Sk de um jogo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Nimber(S) = MEX do conjunto de Nimber(Si) de todas as jogadas poss</a:t>
            </a:r>
            <a:r>
              <a:rPr lang="pt-BR"/>
              <a:t>íveis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Teorema: O jogo no estado S equivale a uma pilha de Nim de tamanho Nimber(S)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 u="sng">
                <a:solidFill>
                  <a:schemeClr val="hlink"/>
                </a:solidFill>
                <a:hlinkClick r:id="rId3"/>
              </a:rPr>
              <a:t>Artigo da OBM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92da2dd6fe_0_106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Sprague-Grundy</a:t>
            </a:r>
            <a:endParaRPr/>
          </a:p>
        </p:txBody>
      </p:sp>
      <p:sp>
        <p:nvSpPr>
          <p:cNvPr id="256" name="Google Shape;256;g392da2dd6fe_0_106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O estado de um jogo </a:t>
            </a:r>
            <a:r>
              <a:rPr lang="pt-BR"/>
              <a:t>é vencedor se o Nimber é diferente de zero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Podemos somar qualquer tipo de jogo usando XOR para obter o nimber resultante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92da2dd6fe_0_112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Sprague-Grundy</a:t>
            </a:r>
            <a:endParaRPr/>
          </a:p>
        </p:txBody>
      </p:sp>
      <p:sp>
        <p:nvSpPr>
          <p:cNvPr id="262" name="Google Shape;262;g392da2dd6fe_0_112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Exemplo: cada jogador pode mover um ponto vermelho por uma aresta por jogada, quem ganha?</a:t>
            </a:r>
            <a:endParaRPr/>
          </a:p>
        </p:txBody>
      </p:sp>
      <p:pic>
        <p:nvPicPr>
          <p:cNvPr id="263" name="Google Shape;263;g392da2dd6fe_0_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9475" y="3491350"/>
            <a:ext cx="6005076" cy="33666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g392da2dd6fe_0_112"/>
          <p:cNvSpPr/>
          <p:nvPr/>
        </p:nvSpPr>
        <p:spPr>
          <a:xfrm>
            <a:off x="2895600" y="3629900"/>
            <a:ext cx="249300" cy="2493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65" name="Google Shape;265;g392da2dd6fe_0_112"/>
          <p:cNvSpPr/>
          <p:nvPr/>
        </p:nvSpPr>
        <p:spPr>
          <a:xfrm>
            <a:off x="1995050" y="5763500"/>
            <a:ext cx="249300" cy="2493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66" name="Google Shape;266;g392da2dd6fe_0_112"/>
          <p:cNvSpPr/>
          <p:nvPr/>
        </p:nvSpPr>
        <p:spPr>
          <a:xfrm>
            <a:off x="1995050" y="4295025"/>
            <a:ext cx="249300" cy="2493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92da2dd6fe_0_121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Sprague-Grundy</a:t>
            </a:r>
            <a:endParaRPr/>
          </a:p>
        </p:txBody>
      </p:sp>
      <p:sp>
        <p:nvSpPr>
          <p:cNvPr id="272" name="Google Shape;272;g392da2dd6fe_0_121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Exemplo: 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 u="sng">
                <a:solidFill>
                  <a:schemeClr val="hlink"/>
                </a:solidFill>
                <a:hlinkClick r:id="rId3"/>
              </a:rPr>
              <a:t>Partitioning game</a:t>
            </a:r>
            <a:endParaRPr/>
          </a:p>
          <a:p>
            <a:pPr indent="-3429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pt-BR"/>
              <a:t>Problema de aplicação mais direta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 u="sng">
                <a:solidFill>
                  <a:schemeClr val="hlink"/>
                </a:solidFill>
                <a:hlinkClick r:id="rId4"/>
              </a:rPr>
              <a:t>Arpa and a game with Mojtaba</a:t>
            </a:r>
            <a:endParaRPr/>
          </a:p>
          <a:p>
            <a:pPr indent="-3429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pt-BR"/>
              <a:t>Cálculo de nimber para bitmasks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Leitura recomendada: </a:t>
            </a:r>
            <a:r>
              <a:rPr lang="pt-BR" u="sng">
                <a:solidFill>
                  <a:schemeClr val="hlink"/>
                </a:solidFill>
                <a:hlinkClick r:id="rId5"/>
              </a:rPr>
              <a:t>Hackenbush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 u="sng">
                <a:solidFill>
                  <a:schemeClr val="hlink"/>
                </a:solidFill>
                <a:hlinkClick r:id="rId6"/>
              </a:rPr>
              <a:t>SPOJ Play with a tree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ódulo">
  <a:themeElements>
    <a:clrScheme name="Módulo">
      <a:dk1>
        <a:srgbClr val="000000"/>
      </a:dk1>
      <a:lt1>
        <a:srgbClr val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ódulo">
  <a:themeElements>
    <a:clrScheme name="Módulo">
      <a:dk1>
        <a:srgbClr val="000000"/>
      </a:dk1>
      <a:lt1>
        <a:srgbClr val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2012-07-03T03:06:12Z</dcterms:created>
  <dc:creator>Gabaum</dc:creator>
</cp:coreProperties>
</file>