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embeddedFontLst>
    <p:embeddedFont>
      <p:font typeface="Corbel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E4ZssAZVEEee4r0XxXnwUdGaD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orbel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orbel-italic.fntdata"/><Relationship Id="rId25" Type="http://schemas.openxmlformats.org/officeDocument/2006/relationships/font" Target="fonts/Corbel-bold.fntdata"/><Relationship Id="rId28" Type="http://customschemas.google.com/relationships/presentationmetadata" Target="metadata"/><Relationship Id="rId27" Type="http://schemas.openxmlformats.org/officeDocument/2006/relationships/font" Target="fonts/Corbel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2cae758d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92cae758df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cae758d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92cae758df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2bdfc5b3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2bdfc5b33_0_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2cae758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2cae758df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2cae758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92cae758df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2cae758d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92cae758df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2cae758d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92cae758df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2cae758d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92cae758df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2cae758d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92cae758df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2cae758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2cae758df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cae758d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92cae758df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2cae758d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92cae758df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2cae758d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92cae758df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2cae758d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92cae758df_0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2cae758d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92cae758df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22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" name="Google Shape;41;p2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/>
          <p:nvPr/>
        </p:nvSpPr>
        <p:spPr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24"/>
          <p:cNvSpPr/>
          <p:nvPr/>
        </p:nvSpPr>
        <p:spPr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24"/>
          <p:cNvSpPr txBox="1"/>
          <p:nvPr>
            <p:ph type="title"/>
          </p:nvPr>
        </p:nvSpPr>
        <p:spPr>
          <a:xfrm>
            <a:off x="749808" y="118872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740664" y="1828800"/>
            <a:ext cx="8022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63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body"/>
          </p:nvPr>
        </p:nvSpPr>
        <p:spPr>
          <a:xfrm>
            <a:off x="457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8" name="Google Shape;58;p25"/>
          <p:cNvSpPr txBox="1"/>
          <p:nvPr>
            <p:ph idx="2" type="body"/>
          </p:nvPr>
        </p:nvSpPr>
        <p:spPr>
          <a:xfrm>
            <a:off x="4648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0" y="1698987"/>
            <a:ext cx="4040188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6"/>
          <p:cNvSpPr txBox="1"/>
          <p:nvPr>
            <p:ph idx="2" type="body"/>
          </p:nvPr>
        </p:nvSpPr>
        <p:spPr>
          <a:xfrm>
            <a:off x="457200" y="244951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26"/>
          <p:cNvSpPr txBox="1"/>
          <p:nvPr>
            <p:ph idx="3" type="body"/>
          </p:nvPr>
        </p:nvSpPr>
        <p:spPr>
          <a:xfrm>
            <a:off x="4645025" y="1698987"/>
            <a:ext cx="4041775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6"/>
          <p:cNvSpPr txBox="1"/>
          <p:nvPr>
            <p:ph idx="4" type="body"/>
          </p:nvPr>
        </p:nvSpPr>
        <p:spPr>
          <a:xfrm>
            <a:off x="4645025" y="244951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167838" y="152400"/>
            <a:ext cx="2523744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3019377" y="1743133"/>
            <a:ext cx="5920641" cy="4558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◼"/>
              <a:defRPr sz="3200"/>
            </a:lvl1pPr>
            <a:lvl2pPr indent="-388619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2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?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  <p:sp>
        <p:nvSpPr>
          <p:cNvPr id="83" name="Google Shape;83;p29"/>
          <p:cNvSpPr txBox="1"/>
          <p:nvPr>
            <p:ph idx="2" type="body"/>
          </p:nvPr>
        </p:nvSpPr>
        <p:spPr>
          <a:xfrm>
            <a:off x="167838" y="1730018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29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 txBox="1"/>
          <p:nvPr>
            <p:ph type="title"/>
          </p:nvPr>
        </p:nvSpPr>
        <p:spPr>
          <a:xfrm>
            <a:off x="164592" y="155448"/>
            <a:ext cx="2525150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/>
          <p:nvPr>
            <p:ph idx="2" type="pic"/>
          </p:nvPr>
        </p:nvSpPr>
        <p:spPr>
          <a:xfrm>
            <a:off x="2903805" y="1484808"/>
            <a:ext cx="6247397" cy="5373192"/>
          </a:xfrm>
          <a:prstGeom prst="rect">
            <a:avLst/>
          </a:prstGeom>
          <a:solidFill>
            <a:srgbClr val="BABABB"/>
          </a:solidFill>
          <a:ln>
            <a:noFill/>
          </a:ln>
        </p:spPr>
      </p:sp>
      <p:sp>
        <p:nvSpPr>
          <p:cNvPr id="92" name="Google Shape;92;p30"/>
          <p:cNvSpPr txBox="1"/>
          <p:nvPr>
            <p:ph idx="1" type="body"/>
          </p:nvPr>
        </p:nvSpPr>
        <p:spPr>
          <a:xfrm>
            <a:off x="164592" y="1728216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30"/>
          <p:cNvSpPr txBox="1"/>
          <p:nvPr>
            <p:ph idx="10" type="dt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3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30"/>
          <p:cNvSpPr txBox="1"/>
          <p:nvPr>
            <p:ph idx="11" type="ftr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ABAB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 rot="5400000">
            <a:off x="2259196" y="-26804"/>
            <a:ext cx="4625609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/>
          <p:nvPr/>
        </p:nvSpPr>
        <p:spPr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108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6" name="Google Shape;106;p32"/>
          <p:cNvSpPr/>
          <p:nvPr/>
        </p:nvSpPr>
        <p:spPr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" name="Google Shape;107;p32"/>
          <p:cNvSpPr txBox="1"/>
          <p:nvPr>
            <p:ph type="title"/>
          </p:nvPr>
        </p:nvSpPr>
        <p:spPr>
          <a:xfrm rot="5400000">
            <a:off x="4808538" y="2247903"/>
            <a:ext cx="585152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" type="body"/>
          </p:nvPr>
        </p:nvSpPr>
        <p:spPr>
          <a:xfrm rot="5400000">
            <a:off x="541338" y="2206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1" type="ftr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p-algorithms.com/data_structures/disjoint_set_union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usaco.guide/adv/offline-del?lang=cp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deforces.com/problemset/problem/1949/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deforces.com/problemset/problem/1949/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p-algorithms.com/graph/breadth-first-search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odeforces.com/problemset/problem/1944/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nlinejudge.org/index.php?option=com_onlinejudge&amp;Itemid=8&amp;page=show_problem&amp;problem=3426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p-algorithms.com/graph/depth-first-search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vjudge.net/contest/782309#problem/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p-algorithms.com/graph/dijkstra.html" TargetMode="External"/><Relationship Id="rId4" Type="http://schemas.openxmlformats.org/officeDocument/2006/relationships/hyperlink" Target="https://codeforces.com/problemset/problem/1937/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</a:pPr>
            <a:r>
              <a:rPr lang="pt-BR"/>
              <a:t>Dia 2 - Introdu</a:t>
            </a:r>
            <a:r>
              <a:rPr lang="pt-BR"/>
              <a:t>ção grafos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Gabriel Dalalio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0" y="50"/>
            <a:ext cx="9144000" cy="210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9" name="Google Shape;119;p1" title="BrazilianICPCSummerSchool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644"/>
            <a:ext cx="9144000" cy="204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T</a:t>
            </a:r>
            <a:r>
              <a:rPr lang="pt-BR"/>
              <a:t>ópicos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Estruturas de dados para grafo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Lista de </a:t>
            </a:r>
            <a:r>
              <a:rPr lang="pt-BR"/>
              <a:t>adjacência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Matriz de adjacência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Lista de arestas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Union Find (DSU - disjoint set union)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BFS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DFS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Dijkstra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cae758df_0_4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Tipos de grafos</a:t>
            </a:r>
            <a:endParaRPr/>
          </a:p>
        </p:txBody>
      </p:sp>
      <p:sp>
        <p:nvSpPr>
          <p:cNvPr id="131" name="Google Shape;131;g392cae758df_0_4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Importante sempre pensar nas particularidades do grafo em cada quest</a:t>
            </a:r>
            <a:r>
              <a:rPr lang="pt-BR"/>
              <a:t>ão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Caso não saiba a resposta, pense em casos particulares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2cae758df_0_4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Tipos de grafos</a:t>
            </a:r>
            <a:endParaRPr/>
          </a:p>
        </p:txBody>
      </p:sp>
      <p:sp>
        <p:nvSpPr>
          <p:cNvPr id="137" name="Google Shape;137;g392cae758df_0_4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Árvores, g</a:t>
            </a:r>
            <a:r>
              <a:rPr lang="pt-BR"/>
              <a:t>rafo linha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Conexo vs. desconexo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Orientado vs. não orientado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Denso vs. esparso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Weighted vs. Unweighted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Bipartido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Planar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2bdfc5b33_0_109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Estruturas de dados para grafos</a:t>
            </a:r>
            <a:endParaRPr/>
          </a:p>
        </p:txBody>
      </p:sp>
      <p:sp>
        <p:nvSpPr>
          <p:cNvPr id="143" name="Google Shape;143;g392bdfc5b33_0_109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Lista de adjac</a:t>
            </a:r>
            <a:r>
              <a:rPr lang="pt-BR"/>
              <a:t>ência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Mais utilizada em problemas, principalmente para grafos esparsos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array de vectors, vector de vector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Matriz de adjacência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Usada quando o grafo pode ser denso e é necessário verificação rápida de existência de aresta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Pode ser implementada com máscara de bits (long long int, bitset)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2cae758df_0_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Estruturas de dados para grafos</a:t>
            </a:r>
            <a:endParaRPr/>
          </a:p>
        </p:txBody>
      </p:sp>
      <p:sp>
        <p:nvSpPr>
          <p:cNvPr id="149" name="Google Shape;149;g392cae758df_0_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Lista de arestas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Problemas como verifica</a:t>
            </a:r>
            <a:r>
              <a:rPr lang="pt-BR"/>
              <a:t>ção de componentes podem nem precisar de nada além da lista das arestas quando se utiliza DSU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Mais algum jeito de guardar um grafo?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2cae758df_0_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Disjoint Set Union</a:t>
            </a:r>
            <a:endParaRPr/>
          </a:p>
        </p:txBody>
      </p:sp>
      <p:sp>
        <p:nvSpPr>
          <p:cNvPr id="155" name="Google Shape;155;g392cae758df_0_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CP Algorithms DSU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Algoritmo para conectar e verificar conexão entre dois elementos rápidamente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union_sets(a, b) -&gt; junta grupo de a e b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find_set(a)-&gt; retorna o representante do grupo de a, dessa maneira se find_set(a) == find_set(b) então a e b estão no mesmo grupo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2cae758df_0_17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Disjoint Set Union</a:t>
            </a:r>
            <a:endParaRPr/>
          </a:p>
        </p:txBody>
      </p:sp>
      <p:sp>
        <p:nvSpPr>
          <p:cNvPr id="161" name="Google Shape;161;g392cae758df_0_17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Aplica</a:t>
            </a:r>
            <a:r>
              <a:rPr lang="pt-BR"/>
              <a:t>ções: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Encontrar número de componentes no grafo, quantos vértices em cada componente ou algum tipo de propriedade somável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Tem várias aplicações mais criativas também…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Há também um tópico mais avançado que também permite deletar conexões: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DSU with rollback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2cae758df_0_2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Disjoint Set Union</a:t>
            </a:r>
            <a:endParaRPr/>
          </a:p>
        </p:txBody>
      </p:sp>
      <p:sp>
        <p:nvSpPr>
          <p:cNvPr id="167" name="Google Shape;167;g392cae758df_0_2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Dating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N pessoas, cada pessoa tem uma lista de interesses entre M interesses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Precisa verificar se há duas pessoas que tem um interesse comum e também, cada uma delas possui pelo menos um interesse que a outra pessoa não tem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cae758df_0_3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Disjoint Set Union</a:t>
            </a:r>
            <a:endParaRPr/>
          </a:p>
        </p:txBody>
      </p:sp>
      <p:sp>
        <p:nvSpPr>
          <p:cNvPr id="173" name="Google Shape;173;g392cae758df_0_3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Dating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 </a:t>
            </a:r>
            <a:r>
              <a:rPr lang="pt-BR"/>
              <a:t>única maneira de não ter nenhum par de pessoas que satisfaz é se para todo par de pessoas, ou elas não tem interesses em comum, ou uma delas possui todos os interesses da outra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Nesse caso acaba se tendo uma estrutura de árvore entre as pessoas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Partindo das pessoas com menos interesses para as com mais interesses, é possível verificar essa condição usando DSU nos interesses!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2cae758df_0_3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BFS</a:t>
            </a:r>
            <a:endParaRPr/>
          </a:p>
        </p:txBody>
      </p:sp>
      <p:sp>
        <p:nvSpPr>
          <p:cNvPr id="179" name="Google Shape;179;g392cae758df_0_3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Breadth-first search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Busca implementada com fila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Encontra caminhos mínimos se as arestas tem peso 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2cae758df_0_5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BFS</a:t>
            </a:r>
            <a:endParaRPr/>
          </a:p>
        </p:txBody>
      </p:sp>
      <p:sp>
        <p:nvSpPr>
          <p:cNvPr id="185" name="Google Shape;185;g392cae758df_0_5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Aplica</a:t>
            </a:r>
            <a:r>
              <a:rPr lang="pt-BR"/>
              <a:t>ção interessante: encontrar </a:t>
            </a:r>
            <a:r>
              <a:rPr lang="pt-BR"/>
              <a:t>diâmetro</a:t>
            </a:r>
            <a:r>
              <a:rPr lang="pt-BR"/>
              <a:t> de uma árvore.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Obs: há outro algoritmo também bem conhecido: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Encontrar vértice x mais longe do vértice 1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Encontrar vértice y mais longe de x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Diâmetro da árvore é a distância de x a 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2cae758df_0_5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BFS</a:t>
            </a:r>
            <a:endParaRPr/>
          </a:p>
        </p:txBody>
      </p:sp>
      <p:sp>
        <p:nvSpPr>
          <p:cNvPr id="191" name="Google Shape;191;g392cae758df_0_5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Come</a:t>
            </a:r>
            <a:r>
              <a:rPr lang="pt-BR"/>
              <a:t>çando a BFS em mais de um vértice simultaneamente, pode se encontrar a menor distância de todos os vértices para ir para algum dos vértices iniciais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Começando a BFS em uma árvore com conjunto inicial igual a todos os vértices folha, ao fim da BFS você encontra o meio do diâmetro da árvore!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Útil para o problema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Tree Compass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2cae758df_0_6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BFS</a:t>
            </a:r>
            <a:endParaRPr/>
          </a:p>
        </p:txBody>
      </p:sp>
      <p:sp>
        <p:nvSpPr>
          <p:cNvPr id="197" name="Google Shape;197;g392cae758df_0_6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Pode se aplicar BFS para buscas mais gerais que simplesmente passar por v</a:t>
            </a:r>
            <a:r>
              <a:rPr lang="pt-BR"/>
              <a:t>értices mas sim estados mais complexos.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Jumping Monkey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BFS pelos estados de bitmask possíveis onde o macaco pode estar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2cae758df_0_6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DFS</a:t>
            </a:r>
            <a:endParaRPr/>
          </a:p>
        </p:txBody>
      </p:sp>
      <p:sp>
        <p:nvSpPr>
          <p:cNvPr id="203" name="Google Shape;203;g392cae758df_0_6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Depth First Search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Implementada com recursão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Muitas aplicações…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Ordem de entrada e saída da DFS em uma árvore é útil para queries!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Na ordem que a DFS visita os vértices, toda sub-árvore é um segmento contínuo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2cae758df_0_7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DFS</a:t>
            </a:r>
            <a:endParaRPr/>
          </a:p>
        </p:txBody>
      </p:sp>
      <p:sp>
        <p:nvSpPr>
          <p:cNvPr id="209" name="Google Shape;209;g392cae758df_0_7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92500" lnSpcReduction="20000"/>
          </a:bodyPr>
          <a:lstStyle/>
          <a:p>
            <a:pPr indent="-3131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Char char="◼"/>
            </a:pPr>
            <a:r>
              <a:rPr lang="pt-BR"/>
              <a:t>Aplica</a:t>
            </a:r>
            <a:r>
              <a:rPr lang="pt-BR"/>
              <a:t>ção: queries de soma do caminho de um vértice até a raiz</a:t>
            </a:r>
            <a:endParaRPr/>
          </a:p>
          <a:p>
            <a:pPr indent="-32375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7857"/>
              <a:buChar char="▪"/>
            </a:pPr>
            <a:r>
              <a:rPr lang="pt-BR"/>
              <a:t>Inicializa uma BIT e encontra posição de entrada e saída de cada vértice (uma posição exclusiva para cada</a:t>
            </a:r>
            <a:endParaRPr/>
          </a:p>
          <a:p>
            <a:pPr indent="-32375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7857"/>
              <a:buChar char="▪"/>
            </a:pPr>
            <a:r>
              <a:rPr lang="pt-BR"/>
              <a:t>Na posição de entrada, soma o valor do vértice</a:t>
            </a:r>
            <a:endParaRPr/>
          </a:p>
          <a:p>
            <a:pPr indent="-32375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7857"/>
              <a:buChar char="▪"/>
            </a:pPr>
            <a:r>
              <a:rPr lang="pt-BR"/>
              <a:t>Na posição de saída, subtrai o valor do vértice</a:t>
            </a:r>
            <a:endParaRPr/>
          </a:p>
          <a:p>
            <a:pPr indent="-32375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7857"/>
              <a:buChar char="▪"/>
            </a:pPr>
            <a:r>
              <a:rPr lang="pt-BR"/>
              <a:t>Dessa maneira, a soma do prefixo da BIT da posição de entrada de um vértice é igual a soma do caminho  do vértice até a raiz!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31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Char char="◼"/>
            </a:pPr>
            <a:r>
              <a:rPr lang="pt-BR"/>
              <a:t>Problema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Water tree</a:t>
            </a:r>
            <a:r>
              <a:rPr lang="pt-BR"/>
              <a:t> parecido porém com seg tree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2cae758df_0_7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Dijkstra</a:t>
            </a:r>
            <a:endParaRPr/>
          </a:p>
        </p:txBody>
      </p:sp>
      <p:sp>
        <p:nvSpPr>
          <p:cNvPr id="215" name="Google Shape;215;g392cae758df_0_7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Dijkstra algorithm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Parecido com BFS porém com priority queue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As vezes o grafo não é tão explicito</a:t>
            </a:r>
            <a:endParaRPr/>
          </a:p>
          <a:p>
            <a:pPr indent="-331468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Exemplo: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Pokemon Arena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2012-07-03T03:06:12Z</dcterms:created>
  <dc:creator>Gabaum</dc:creator>
</cp:coreProperties>
</file>